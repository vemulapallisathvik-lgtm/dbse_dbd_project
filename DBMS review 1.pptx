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53"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3464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project, the team and the one-line purpose of the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before the solution: manual attendance is slow, forgeable and unqueryable.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stages of the manual process and the weakness attached to each.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from enrolment to reporting. Emphasise that matching is tied to the roll number, so it is a 1:1 verification, not a 1:N search.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three about the process, three about the database and interface.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boundaries — examiners usually ask what the system does not 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stack by layer rather than listing tools flatly — it maps directly onto the architecture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Three-tier architecture. Stress the separation: the browser never touches the database directly — all matching and SQL happens in the application layer.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060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350"/>
        </a:solidFill>
        <a:effectLst/>
      </p:bgPr>
    </p:bg>
    <p:spTree>
      <p:nvGrpSpPr>
        <p:cNvPr id="1" name=""/>
        <p:cNvGrpSpPr/>
        <p:nvPr/>
      </p:nvGrpSpPr>
      <p:grpSpPr>
        <a:xfrm>
          <a:off x="0" y="0"/>
          <a:ext cx="0" cy="0"/>
          <a:chOff x="0" y="0"/>
          <a:chExt cx="0" cy="0"/>
        </a:xfrm>
      </p:grpSpPr>
      <p:sp>
        <p:nvSpPr>
          <p:cNvPr id="2" name="Shape 0"/>
          <p:cNvSpPr/>
          <p:nvPr/>
        </p:nvSpPr>
        <p:spPr>
          <a:xfrm>
            <a:off x="7818120" y="1234440"/>
            <a:ext cx="3749040" cy="4389120"/>
          </a:xfrm>
          <a:prstGeom prst="roundRect">
            <a:avLst>
              <a:gd name="adj" fmla="val 1220"/>
            </a:avLst>
          </a:prstGeom>
          <a:solidFill>
            <a:srgbClr val="1B2350"/>
          </a:solidFill>
          <a:ln w="12700">
            <a:solidFill>
              <a:srgbClr val="3C4780"/>
            </a:solidFill>
            <a:prstDash val="solid"/>
          </a:ln>
        </p:spPr>
      </p:sp>
      <p:sp>
        <p:nvSpPr>
          <p:cNvPr id="3" name="Shape 1"/>
          <p:cNvSpPr/>
          <p:nvPr/>
        </p:nvSpPr>
        <p:spPr>
          <a:xfrm>
            <a:off x="7818120" y="1234440"/>
            <a:ext cx="548640" cy="64008"/>
          </a:xfrm>
          <a:prstGeom prst="rect">
            <a:avLst/>
          </a:prstGeom>
          <a:solidFill>
            <a:srgbClr val="FF8A94"/>
          </a:solidFill>
          <a:ln/>
        </p:spPr>
      </p:sp>
      <p:sp>
        <p:nvSpPr>
          <p:cNvPr id="4" name="Shape 2"/>
          <p:cNvSpPr/>
          <p:nvPr/>
        </p:nvSpPr>
        <p:spPr>
          <a:xfrm>
            <a:off x="7818120" y="1234440"/>
            <a:ext cx="64008" cy="548640"/>
          </a:xfrm>
          <a:prstGeom prst="rect">
            <a:avLst/>
          </a:prstGeom>
          <a:solidFill>
            <a:srgbClr val="FF8A94"/>
          </a:solidFill>
          <a:ln/>
        </p:spPr>
      </p:sp>
      <p:sp>
        <p:nvSpPr>
          <p:cNvPr id="5" name="Shape 3"/>
          <p:cNvSpPr/>
          <p:nvPr/>
        </p:nvSpPr>
        <p:spPr>
          <a:xfrm>
            <a:off x="11018520" y="1234440"/>
            <a:ext cx="548640" cy="64008"/>
          </a:xfrm>
          <a:prstGeom prst="rect">
            <a:avLst/>
          </a:prstGeom>
          <a:solidFill>
            <a:srgbClr val="FF8A94"/>
          </a:solidFill>
          <a:ln/>
        </p:spPr>
      </p:sp>
      <p:sp>
        <p:nvSpPr>
          <p:cNvPr id="6" name="Shape 4"/>
          <p:cNvSpPr/>
          <p:nvPr/>
        </p:nvSpPr>
        <p:spPr>
          <a:xfrm>
            <a:off x="11018520" y="1234440"/>
            <a:ext cx="64008" cy="548640"/>
          </a:xfrm>
          <a:prstGeom prst="rect">
            <a:avLst/>
          </a:prstGeom>
          <a:solidFill>
            <a:srgbClr val="FF8A94"/>
          </a:solidFill>
          <a:ln/>
        </p:spPr>
      </p:sp>
      <p:sp>
        <p:nvSpPr>
          <p:cNvPr id="7" name="Shape 5"/>
          <p:cNvSpPr/>
          <p:nvPr/>
        </p:nvSpPr>
        <p:spPr>
          <a:xfrm>
            <a:off x="7818120" y="5074920"/>
            <a:ext cx="548640" cy="64008"/>
          </a:xfrm>
          <a:prstGeom prst="rect">
            <a:avLst/>
          </a:prstGeom>
          <a:solidFill>
            <a:srgbClr val="FF8A94"/>
          </a:solidFill>
          <a:ln/>
        </p:spPr>
      </p:sp>
      <p:sp>
        <p:nvSpPr>
          <p:cNvPr id="8" name="Shape 6"/>
          <p:cNvSpPr/>
          <p:nvPr/>
        </p:nvSpPr>
        <p:spPr>
          <a:xfrm>
            <a:off x="7818120" y="5074920"/>
            <a:ext cx="64008" cy="548640"/>
          </a:xfrm>
          <a:prstGeom prst="rect">
            <a:avLst/>
          </a:prstGeom>
          <a:solidFill>
            <a:srgbClr val="FF8A94"/>
          </a:solidFill>
          <a:ln/>
        </p:spPr>
      </p:sp>
      <p:sp>
        <p:nvSpPr>
          <p:cNvPr id="9" name="Shape 7"/>
          <p:cNvSpPr/>
          <p:nvPr/>
        </p:nvSpPr>
        <p:spPr>
          <a:xfrm>
            <a:off x="11018520" y="5074920"/>
            <a:ext cx="548640" cy="64008"/>
          </a:xfrm>
          <a:prstGeom prst="rect">
            <a:avLst/>
          </a:prstGeom>
          <a:solidFill>
            <a:srgbClr val="FF8A94"/>
          </a:solidFill>
          <a:ln/>
        </p:spPr>
      </p:sp>
      <p:sp>
        <p:nvSpPr>
          <p:cNvPr id="10" name="Shape 8"/>
          <p:cNvSpPr/>
          <p:nvPr/>
        </p:nvSpPr>
        <p:spPr>
          <a:xfrm>
            <a:off x="11018520" y="5074920"/>
            <a:ext cx="64008" cy="548640"/>
          </a:xfrm>
          <a:prstGeom prst="rect">
            <a:avLst/>
          </a:prstGeom>
          <a:solidFill>
            <a:srgbClr val="FF8A94"/>
          </a:solidFill>
          <a:ln/>
        </p:spPr>
      </p:sp>
      <p:sp>
        <p:nvSpPr>
          <p:cNvPr id="11" name="Shape 9"/>
          <p:cNvSpPr/>
          <p:nvPr/>
        </p:nvSpPr>
        <p:spPr>
          <a:xfrm>
            <a:off x="8595360" y="2331720"/>
            <a:ext cx="2194560" cy="2194560"/>
          </a:xfrm>
          <a:prstGeom prst="ellipse">
            <a:avLst/>
          </a:prstGeom>
          <a:solidFill>
            <a:srgbClr val="1B2350">
              <a:alpha val="0"/>
            </a:srgbClr>
          </a:solidFill>
          <a:ln w="12700">
            <a:solidFill>
              <a:srgbClr val="46528F"/>
            </a:solidFill>
            <a:prstDash val="solid"/>
          </a:ln>
        </p:spPr>
      </p:sp>
      <p:sp>
        <p:nvSpPr>
          <p:cNvPr id="12" name="Shape 10"/>
          <p:cNvSpPr/>
          <p:nvPr/>
        </p:nvSpPr>
        <p:spPr>
          <a:xfrm>
            <a:off x="8892540" y="2628900"/>
            <a:ext cx="1600200" cy="1600200"/>
          </a:xfrm>
          <a:prstGeom prst="ellipse">
            <a:avLst/>
          </a:prstGeom>
          <a:solidFill>
            <a:srgbClr val="1B2350">
              <a:alpha val="0"/>
            </a:srgbClr>
          </a:solidFill>
          <a:ln w="12700">
            <a:solidFill>
              <a:srgbClr val="46528F"/>
            </a:solidFill>
            <a:prstDash val="solid"/>
          </a:ln>
        </p:spPr>
      </p:sp>
      <p:sp>
        <p:nvSpPr>
          <p:cNvPr id="13" name="Shape 11"/>
          <p:cNvSpPr/>
          <p:nvPr/>
        </p:nvSpPr>
        <p:spPr>
          <a:xfrm>
            <a:off x="9189720" y="2926080"/>
            <a:ext cx="1005840" cy="1005840"/>
          </a:xfrm>
          <a:prstGeom prst="ellipse">
            <a:avLst/>
          </a:prstGeom>
          <a:solidFill>
            <a:srgbClr val="1B2350">
              <a:alpha val="0"/>
            </a:srgbClr>
          </a:solidFill>
          <a:ln w="25400">
            <a:solidFill>
              <a:srgbClr val="FF8A94"/>
            </a:solidFill>
            <a:prstDash val="solid"/>
          </a:ln>
        </p:spPr>
      </p:sp>
      <p:sp>
        <p:nvSpPr>
          <p:cNvPr id="14" name="Shape 12"/>
          <p:cNvSpPr/>
          <p:nvPr/>
        </p:nvSpPr>
        <p:spPr>
          <a:xfrm>
            <a:off x="9546336" y="3282696"/>
            <a:ext cx="292608" cy="292608"/>
          </a:xfrm>
          <a:prstGeom prst="ellipse">
            <a:avLst/>
          </a:prstGeom>
          <a:solidFill>
            <a:srgbClr val="FF8A94"/>
          </a:solidFill>
          <a:ln/>
        </p:spPr>
      </p:sp>
      <p:sp>
        <p:nvSpPr>
          <p:cNvPr id="15" name="Text 13"/>
          <p:cNvSpPr txBox="1"/>
          <p:nvPr/>
        </p:nvSpPr>
        <p:spPr>
          <a:xfrm>
            <a:off x="7818120" y="5715000"/>
            <a:ext cx="3749040" cy="274320"/>
          </a:xfrm>
          <a:prstGeom prst="rect">
            <a:avLst/>
          </a:prstGeom>
          <a:noFill/>
          <a:ln/>
        </p:spPr>
        <p:txBody>
          <a:bodyPr wrap="square" lIns="0" tIns="0" rIns="0" bIns="0" rtlCol="0" anchor="ctr"/>
          <a:lstStyle/>
          <a:p>
            <a:pPr marL="0" indent="0" algn="ctr">
              <a:buNone/>
            </a:pPr>
            <a:r>
              <a:rPr lang="en-US" sz="1000" kern="0" spc="200" dirty="0">
                <a:solidFill>
                  <a:srgbClr val="8E97C4"/>
                </a:solidFill>
                <a:latin typeface="Calibri" pitchFamily="34" charset="0"/>
                <a:ea typeface="Calibri" pitchFamily="34" charset="-122"/>
                <a:cs typeface="Calibri" pitchFamily="34" charset="-120"/>
              </a:rPr>
              <a:t>BIOMETRIC FACE SCAN</a:t>
            </a:r>
            <a:endParaRPr lang="en-US" sz="1000" dirty="0"/>
          </a:p>
        </p:txBody>
      </p:sp>
      <p:sp>
        <p:nvSpPr>
          <p:cNvPr id="16" name="Text 14"/>
          <p:cNvSpPr txBox="1"/>
          <p:nvPr/>
        </p:nvSpPr>
        <p:spPr>
          <a:xfrm>
            <a:off x="685800" y="1234440"/>
            <a:ext cx="6766560" cy="274320"/>
          </a:xfrm>
          <a:prstGeom prst="rect">
            <a:avLst/>
          </a:prstGeom>
          <a:noFill/>
          <a:ln/>
        </p:spPr>
        <p:txBody>
          <a:bodyPr wrap="square" lIns="0" tIns="0" rIns="0" bIns="0" rtlCol="0" anchor="ctr"/>
          <a:lstStyle/>
          <a:p>
            <a:pPr marL="0" indent="0">
              <a:buNone/>
            </a:pPr>
            <a:r>
              <a:rPr lang="en-US" sz="1200" b="1" kern="0" spc="150" dirty="0">
                <a:solidFill>
                  <a:srgbClr val="FF8A94"/>
                </a:solidFill>
                <a:latin typeface="Calibri" pitchFamily="34" charset="0"/>
                <a:ea typeface="Calibri" pitchFamily="34" charset="-122"/>
                <a:cs typeface="Calibri" pitchFamily="34" charset="-120"/>
              </a:rPr>
              <a:t>DATABASE MANAGEMENT SYSTEM  |  MINI PROJECT</a:t>
            </a:r>
            <a:endParaRPr lang="en-US" sz="1200" dirty="0"/>
          </a:p>
        </p:txBody>
      </p:sp>
      <p:sp>
        <p:nvSpPr>
          <p:cNvPr id="17" name="Text 15"/>
          <p:cNvSpPr txBox="1"/>
          <p:nvPr/>
        </p:nvSpPr>
        <p:spPr>
          <a:xfrm>
            <a:off x="685800" y="1645920"/>
            <a:ext cx="6766560" cy="1188720"/>
          </a:xfrm>
          <a:prstGeom prst="rect">
            <a:avLst/>
          </a:prstGeom>
          <a:noFill/>
          <a:ln/>
        </p:spPr>
        <p:txBody>
          <a:bodyPr wrap="square" lIns="0" tIns="0" rIns="0" bIns="0" rtlCol="0" anchor="ctr"/>
          <a:lstStyle/>
          <a:p>
            <a:pPr marL="0" indent="0">
              <a:lnSpc>
                <a:spcPct val="95000"/>
              </a:lnSpc>
              <a:buNone/>
            </a:pPr>
            <a:r>
              <a:rPr lang="en-US" sz="4400" b="1" dirty="0">
                <a:solidFill>
                  <a:srgbClr val="FFFFFF"/>
                </a:solidFill>
                <a:latin typeface="Cambria" pitchFamily="34" charset="0"/>
                <a:ea typeface="Cambria" pitchFamily="34" charset="-122"/>
                <a:cs typeface="Cambria" pitchFamily="34" charset="-120"/>
              </a:rPr>
              <a:t>SMART ATTENDANCE SYSTEM</a:t>
            </a:r>
            <a:endParaRPr lang="en-US" sz="4400" dirty="0"/>
          </a:p>
        </p:txBody>
      </p:sp>
      <p:sp>
        <p:nvSpPr>
          <p:cNvPr id="18" name="Text 16"/>
          <p:cNvSpPr txBox="1"/>
          <p:nvPr/>
        </p:nvSpPr>
        <p:spPr>
          <a:xfrm>
            <a:off x="685800" y="2743200"/>
            <a:ext cx="6766560" cy="548640"/>
          </a:xfrm>
          <a:prstGeom prst="rect">
            <a:avLst/>
          </a:prstGeom>
          <a:noFill/>
          <a:ln/>
        </p:spPr>
        <p:txBody>
          <a:bodyPr wrap="square" lIns="0" tIns="0" rIns="0" bIns="0" rtlCol="0" anchor="ctr"/>
          <a:lstStyle/>
          <a:p>
            <a:pPr marL="0" indent="0">
              <a:buNone/>
            </a:pPr>
            <a:r>
              <a:rPr lang="en-US" sz="3000" b="1" dirty="0">
                <a:solidFill>
                  <a:srgbClr val="FF8A94"/>
                </a:solidFill>
                <a:latin typeface="Cambria" pitchFamily="34" charset="0"/>
                <a:ea typeface="Cambria" pitchFamily="34" charset="-122"/>
                <a:cs typeface="Cambria" pitchFamily="34" charset="-120"/>
              </a:rPr>
              <a:t>USING FACE RECOGNITION</a:t>
            </a:r>
            <a:endParaRPr lang="en-US" sz="3000" dirty="0"/>
          </a:p>
        </p:txBody>
      </p:sp>
      <p:sp>
        <p:nvSpPr>
          <p:cNvPr id="19" name="Text 17"/>
          <p:cNvSpPr txBox="1"/>
          <p:nvPr/>
        </p:nvSpPr>
        <p:spPr>
          <a:xfrm>
            <a:off x="685800" y="3474720"/>
            <a:ext cx="6400800" cy="640080"/>
          </a:xfrm>
          <a:prstGeom prst="rect">
            <a:avLst/>
          </a:prstGeom>
          <a:noFill/>
          <a:ln/>
        </p:spPr>
        <p:txBody>
          <a:bodyPr wrap="square" lIns="0" tIns="0" rIns="0" bIns="0" rtlCol="0" anchor="ctr"/>
          <a:lstStyle/>
          <a:p>
            <a:pPr marL="0" indent="0">
              <a:lnSpc>
                <a:spcPct val="120000"/>
              </a:lnSpc>
              <a:buNone/>
            </a:pPr>
            <a:r>
              <a:rPr lang="en-US" sz="1400" dirty="0">
                <a:solidFill>
                  <a:srgbClr val="C3C9E4"/>
                </a:solidFill>
                <a:latin typeface="Calibri" pitchFamily="34" charset="0"/>
                <a:ea typeface="Calibri" pitchFamily="34" charset="-122"/>
                <a:cs typeface="Calibri" pitchFamily="34" charset="-120"/>
              </a:rPr>
              <a:t>Automated student verification with biometric matching and centralised MySQL record keeping.</a:t>
            </a:r>
            <a:endParaRPr lang="en-US" sz="1400" dirty="0"/>
          </a:p>
        </p:txBody>
      </p:sp>
      <p:sp>
        <p:nvSpPr>
          <p:cNvPr id="20" name="Text 18"/>
          <p:cNvSpPr txBox="1"/>
          <p:nvPr/>
        </p:nvSpPr>
        <p:spPr>
          <a:xfrm>
            <a:off x="685800" y="4434840"/>
            <a:ext cx="6766560" cy="256032"/>
          </a:xfrm>
          <a:prstGeom prst="rect">
            <a:avLst/>
          </a:prstGeom>
          <a:noFill/>
          <a:ln/>
        </p:spPr>
        <p:txBody>
          <a:bodyPr wrap="square" lIns="0" tIns="0" rIns="0" bIns="0" rtlCol="0" anchor="ctr"/>
          <a:lstStyle/>
          <a:p>
            <a:pPr marL="0" indent="0">
              <a:buNone/>
            </a:pPr>
            <a:r>
              <a:rPr lang="en-US" sz="1100" b="1" kern="0" spc="150" dirty="0">
                <a:solidFill>
                  <a:srgbClr val="8E97C4"/>
                </a:solidFill>
                <a:latin typeface="Calibri" pitchFamily="34" charset="0"/>
                <a:ea typeface="Calibri" pitchFamily="34" charset="-122"/>
                <a:cs typeface="Calibri" pitchFamily="34" charset="-120"/>
              </a:rPr>
              <a:t>PROJECT TEAM</a:t>
            </a:r>
            <a:endParaRPr lang="en-US" sz="1100" dirty="0"/>
          </a:p>
        </p:txBody>
      </p:sp>
      <p:sp>
        <p:nvSpPr>
          <p:cNvPr id="21" name="Shape 19"/>
          <p:cNvSpPr/>
          <p:nvPr/>
        </p:nvSpPr>
        <p:spPr>
          <a:xfrm>
            <a:off x="685800" y="4773168"/>
            <a:ext cx="2103120" cy="502920"/>
          </a:xfrm>
          <a:prstGeom prst="roundRect">
            <a:avLst>
              <a:gd name="adj" fmla="val 18182"/>
            </a:avLst>
          </a:prstGeom>
          <a:solidFill>
            <a:srgbClr val="273265"/>
          </a:solidFill>
          <a:ln w="12700">
            <a:solidFill>
              <a:srgbClr val="46528F"/>
            </a:solidFill>
            <a:prstDash val="solid"/>
          </a:ln>
        </p:spPr>
      </p:sp>
      <p:sp>
        <p:nvSpPr>
          <p:cNvPr id="22" name="Text 20"/>
          <p:cNvSpPr txBox="1"/>
          <p:nvPr/>
        </p:nvSpPr>
        <p:spPr>
          <a:xfrm>
            <a:off x="685800" y="4773168"/>
            <a:ext cx="2103120" cy="50292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V. Shiva </a:t>
            </a:r>
            <a:r>
              <a:rPr lang="en-US" sz="1150" dirty="0" err="1">
                <a:solidFill>
                  <a:srgbClr val="FFFFFF"/>
                </a:solidFill>
                <a:latin typeface="Calibri" pitchFamily="34" charset="0"/>
                <a:ea typeface="Calibri" pitchFamily="34" charset="-122"/>
                <a:cs typeface="Calibri" pitchFamily="34" charset="-120"/>
              </a:rPr>
              <a:t>Venkata</a:t>
            </a:r>
            <a:r>
              <a:rPr lang="en-US" sz="1150" dirty="0">
                <a:solidFill>
                  <a:srgbClr val="FFFFFF"/>
                </a:solidFill>
                <a:latin typeface="Calibri" pitchFamily="34" charset="0"/>
                <a:ea typeface="Calibri" pitchFamily="34" charset="-122"/>
                <a:cs typeface="Calibri" pitchFamily="34" charset="-120"/>
              </a:rPr>
              <a:t> </a:t>
            </a:r>
            <a:r>
              <a:rPr lang="en-US" sz="1150" dirty="0" err="1" smtClean="0">
                <a:solidFill>
                  <a:srgbClr val="FFFFFF"/>
                </a:solidFill>
                <a:latin typeface="Calibri" pitchFamily="34" charset="0"/>
                <a:ea typeface="Calibri" pitchFamily="34" charset="-122"/>
                <a:cs typeface="Calibri" pitchFamily="34" charset="-120"/>
              </a:rPr>
              <a:t>Sai</a:t>
            </a:r>
            <a:endParaRPr lang="en-US" sz="1150" dirty="0" smtClean="0">
              <a:solidFill>
                <a:srgbClr val="FFFFFF"/>
              </a:solidFill>
              <a:latin typeface="Calibri" pitchFamily="34" charset="0"/>
              <a:ea typeface="Calibri" pitchFamily="34" charset="-122"/>
              <a:cs typeface="Calibri" pitchFamily="34" charset="-120"/>
            </a:endParaRPr>
          </a:p>
          <a:p>
            <a:pPr marL="0" indent="0" algn="ctr">
              <a:buNone/>
            </a:pPr>
            <a:r>
              <a:rPr lang="en-US" sz="1150" dirty="0" smtClean="0">
                <a:solidFill>
                  <a:srgbClr val="FFFFFF"/>
                </a:solidFill>
                <a:latin typeface="Calibri" pitchFamily="34" charset="0"/>
                <a:ea typeface="Calibri" pitchFamily="34" charset="-122"/>
                <a:cs typeface="Calibri" pitchFamily="34" charset="-120"/>
              </a:rPr>
              <a:t>2520090092</a:t>
            </a:r>
            <a:endParaRPr lang="en-US" sz="1150" dirty="0"/>
          </a:p>
        </p:txBody>
      </p:sp>
      <p:sp>
        <p:nvSpPr>
          <p:cNvPr id="23" name="Shape 21"/>
          <p:cNvSpPr/>
          <p:nvPr/>
        </p:nvSpPr>
        <p:spPr>
          <a:xfrm>
            <a:off x="2971800" y="4773168"/>
            <a:ext cx="2103120" cy="502920"/>
          </a:xfrm>
          <a:prstGeom prst="roundRect">
            <a:avLst>
              <a:gd name="adj" fmla="val 18182"/>
            </a:avLst>
          </a:prstGeom>
          <a:solidFill>
            <a:srgbClr val="273265"/>
          </a:solidFill>
          <a:ln w="12700">
            <a:solidFill>
              <a:srgbClr val="46528F"/>
            </a:solidFill>
            <a:prstDash val="solid"/>
          </a:ln>
        </p:spPr>
      </p:sp>
      <p:sp>
        <p:nvSpPr>
          <p:cNvPr id="24" name="Text 22"/>
          <p:cNvSpPr txBox="1"/>
          <p:nvPr/>
        </p:nvSpPr>
        <p:spPr>
          <a:xfrm>
            <a:off x="2971800" y="4773168"/>
            <a:ext cx="2103120" cy="50292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V. </a:t>
            </a:r>
            <a:r>
              <a:rPr lang="en-US" sz="1150" dirty="0" err="1" smtClean="0">
                <a:solidFill>
                  <a:srgbClr val="FFFFFF"/>
                </a:solidFill>
                <a:latin typeface="Calibri" pitchFamily="34" charset="0"/>
                <a:ea typeface="Calibri" pitchFamily="34" charset="-122"/>
                <a:cs typeface="Calibri" pitchFamily="34" charset="-120"/>
              </a:rPr>
              <a:t>Sathvik</a:t>
            </a:r>
            <a:endParaRPr lang="en-US" sz="1150" dirty="0" smtClean="0">
              <a:solidFill>
                <a:srgbClr val="FFFFFF"/>
              </a:solidFill>
              <a:latin typeface="Calibri" pitchFamily="34" charset="0"/>
              <a:ea typeface="Calibri" pitchFamily="34" charset="-122"/>
              <a:cs typeface="Calibri" pitchFamily="34" charset="-120"/>
            </a:endParaRPr>
          </a:p>
          <a:p>
            <a:pPr marL="0" indent="0" algn="ctr">
              <a:buNone/>
            </a:pPr>
            <a:r>
              <a:rPr lang="en-US" sz="1150" dirty="0" smtClean="0">
                <a:solidFill>
                  <a:srgbClr val="FFFFFF"/>
                </a:solidFill>
                <a:latin typeface="Calibri" pitchFamily="34" charset="0"/>
                <a:ea typeface="Calibri" pitchFamily="34" charset="-122"/>
                <a:cs typeface="Calibri" pitchFamily="34" charset="-120"/>
              </a:rPr>
              <a:t>2520090097</a:t>
            </a:r>
            <a:endParaRPr lang="en-US" sz="1150" dirty="0"/>
          </a:p>
        </p:txBody>
      </p:sp>
      <p:sp>
        <p:nvSpPr>
          <p:cNvPr id="25" name="Shape 23"/>
          <p:cNvSpPr/>
          <p:nvPr/>
        </p:nvSpPr>
        <p:spPr>
          <a:xfrm>
            <a:off x="5257800" y="4773168"/>
            <a:ext cx="2103120" cy="502920"/>
          </a:xfrm>
          <a:prstGeom prst="roundRect">
            <a:avLst>
              <a:gd name="adj" fmla="val 18182"/>
            </a:avLst>
          </a:prstGeom>
          <a:solidFill>
            <a:srgbClr val="273265"/>
          </a:solidFill>
          <a:ln w="12700">
            <a:solidFill>
              <a:srgbClr val="46528F"/>
            </a:solidFill>
            <a:prstDash val="solid"/>
          </a:ln>
        </p:spPr>
      </p:sp>
      <p:sp>
        <p:nvSpPr>
          <p:cNvPr id="26" name="Text 24"/>
          <p:cNvSpPr txBox="1"/>
          <p:nvPr/>
        </p:nvSpPr>
        <p:spPr>
          <a:xfrm>
            <a:off x="5257800" y="4773168"/>
            <a:ext cx="2103120" cy="50292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R. </a:t>
            </a:r>
            <a:r>
              <a:rPr lang="en-US" sz="1150" dirty="0" smtClean="0">
                <a:solidFill>
                  <a:srgbClr val="FFFFFF"/>
                </a:solidFill>
                <a:latin typeface="Calibri" pitchFamily="34" charset="0"/>
                <a:ea typeface="Calibri" pitchFamily="34" charset="-122"/>
                <a:cs typeface="Calibri" pitchFamily="34" charset="-120"/>
              </a:rPr>
              <a:t>Pranav</a:t>
            </a:r>
          </a:p>
          <a:p>
            <a:pPr marL="0" indent="0" algn="ctr">
              <a:buNone/>
            </a:pPr>
            <a:r>
              <a:rPr lang="en-US" sz="1150" dirty="0" smtClean="0">
                <a:solidFill>
                  <a:srgbClr val="FFFFFF"/>
                </a:solidFill>
                <a:latin typeface="Calibri" pitchFamily="34" charset="0"/>
                <a:ea typeface="Calibri" pitchFamily="34" charset="-122"/>
                <a:cs typeface="Calibri" pitchFamily="34" charset="-120"/>
              </a:rPr>
              <a:t>2520090109</a:t>
            </a:r>
            <a:endParaRPr lang="en-US" sz="1150" dirty="0"/>
          </a:p>
        </p:txBody>
      </p:sp>
      <p:sp>
        <p:nvSpPr>
          <p:cNvPr id="27" name="Text 25"/>
          <p:cNvSpPr txBox="1"/>
          <p:nvPr/>
        </p:nvSpPr>
        <p:spPr>
          <a:xfrm>
            <a:off x="685800" y="5715000"/>
            <a:ext cx="6766560" cy="274320"/>
          </a:xfrm>
          <a:prstGeom prst="rect">
            <a:avLst/>
          </a:prstGeom>
          <a:noFill/>
          <a:ln/>
        </p:spPr>
        <p:txBody>
          <a:bodyPr wrap="square" lIns="0" tIns="0" rIns="0" bIns="0" rtlCol="0" anchor="ctr"/>
          <a:lstStyle/>
          <a:p>
            <a:pPr marL="0" indent="0">
              <a:buNone/>
            </a:pPr>
            <a:r>
              <a:rPr lang="en-US" sz="1100" dirty="0">
                <a:solidFill>
                  <a:srgbClr val="8E97C4"/>
                </a:solidFill>
                <a:latin typeface="Calibri" pitchFamily="34" charset="0"/>
                <a:ea typeface="Calibri" pitchFamily="34" charset="-122"/>
                <a:cs typeface="Calibri" pitchFamily="34" charset="-120"/>
              </a:rPr>
              <a:t>Department of Computer Science &amp; Engineering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20624"/>
            <a:ext cx="475488" cy="475488"/>
          </a:xfrm>
          <a:prstGeom prst="ellipse">
            <a:avLst/>
          </a:prstGeom>
          <a:solidFill>
            <a:srgbClr val="990011"/>
          </a:solidFill>
          <a:ln/>
        </p:spPr>
      </p:sp>
      <p:sp>
        <p:nvSpPr>
          <p:cNvPr id="3" name="Text 1"/>
          <p:cNvSpPr txBox="1"/>
          <p:nvPr/>
        </p:nvSpPr>
        <p:spPr>
          <a:xfrm>
            <a:off x="548640" y="42062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170432" y="384048"/>
            <a:ext cx="10424160" cy="548640"/>
          </a:xfrm>
          <a:prstGeom prst="rect">
            <a:avLst/>
          </a:prstGeom>
          <a:noFill/>
          <a:ln/>
        </p:spPr>
        <p:txBody>
          <a:bodyPr wrap="square" lIns="0" tIns="0" rIns="0" bIns="0" rtlCol="0" anchor="ctr"/>
          <a:lstStyle/>
          <a:p>
            <a:pPr marL="0" indent="0">
              <a:buNone/>
            </a:pPr>
            <a:r>
              <a:rPr lang="en-US" sz="3400" b="1" dirty="0">
                <a:solidFill>
                  <a:srgbClr val="2F3C7E"/>
                </a:solidFill>
                <a:latin typeface="Cambria" pitchFamily="34" charset="0"/>
                <a:ea typeface="Cambria" pitchFamily="34" charset="-122"/>
                <a:cs typeface="Cambria" pitchFamily="34" charset="-120"/>
              </a:rPr>
              <a:t>PROBLEM STATEMENT</a:t>
            </a:r>
            <a:endParaRPr lang="en-US" sz="3400" dirty="0"/>
          </a:p>
        </p:txBody>
      </p:sp>
      <p:sp>
        <p:nvSpPr>
          <p:cNvPr id="5" name="Shape 3"/>
          <p:cNvSpPr/>
          <p:nvPr/>
        </p:nvSpPr>
        <p:spPr>
          <a:xfrm>
            <a:off x="548640" y="1234440"/>
            <a:ext cx="4617720" cy="5029200"/>
          </a:xfrm>
          <a:prstGeom prst="roundRect">
            <a:avLst>
              <a:gd name="adj" fmla="val 1584"/>
            </a:avLst>
          </a:prstGeom>
          <a:solidFill>
            <a:srgbClr val="EDEFF7"/>
          </a:solidFill>
          <a:ln w="12700">
            <a:solidFill>
              <a:srgbClr val="D2D8EC"/>
            </a:solidFill>
            <a:prstDash val="solid"/>
          </a:ln>
          <a:effectLst>
            <a:outerShdw blurRad="101600" dist="25400" dir="5400000" algn="bl" rotWithShape="0">
              <a:srgbClr val="9AA0B5">
                <a:alpha val="25000"/>
              </a:srgbClr>
            </a:outerShdw>
          </a:effectLst>
        </p:spPr>
      </p:sp>
      <p:sp>
        <p:nvSpPr>
          <p:cNvPr id="6" name="Text 4"/>
          <p:cNvSpPr txBox="1"/>
          <p:nvPr/>
        </p:nvSpPr>
        <p:spPr>
          <a:xfrm>
            <a:off x="868680" y="1554480"/>
            <a:ext cx="3977640" cy="365760"/>
          </a:xfrm>
          <a:prstGeom prst="rect">
            <a:avLst/>
          </a:prstGeom>
          <a:noFill/>
          <a:ln/>
        </p:spPr>
        <p:txBody>
          <a:bodyPr wrap="square" lIns="0" tIns="0" rIns="0" bIns="0" rtlCol="0" anchor="ctr"/>
          <a:lstStyle/>
          <a:p>
            <a:pPr marL="0" indent="0">
              <a:buNone/>
            </a:pPr>
            <a:r>
              <a:rPr lang="en-US" sz="2100" b="1" dirty="0">
                <a:solidFill>
                  <a:srgbClr val="2F3C7E"/>
                </a:solidFill>
                <a:latin typeface="Cambria" pitchFamily="34" charset="0"/>
                <a:ea typeface="Cambria" pitchFamily="34" charset="-122"/>
                <a:cs typeface="Cambria" pitchFamily="34" charset="-120"/>
              </a:rPr>
              <a:t>The core problem</a:t>
            </a:r>
            <a:endParaRPr lang="en-US" sz="2100" dirty="0"/>
          </a:p>
        </p:txBody>
      </p:sp>
      <p:sp>
        <p:nvSpPr>
          <p:cNvPr id="7" name="Text 5"/>
          <p:cNvSpPr txBox="1"/>
          <p:nvPr/>
        </p:nvSpPr>
        <p:spPr>
          <a:xfrm>
            <a:off x="868680" y="2057400"/>
            <a:ext cx="3977640" cy="914400"/>
          </a:xfrm>
          <a:prstGeom prst="rect">
            <a:avLst/>
          </a:prstGeom>
          <a:noFill/>
          <a:ln/>
        </p:spPr>
        <p:txBody>
          <a:bodyPr wrap="square" lIns="0" tIns="0" rIns="0" bIns="0" rtlCol="0" anchor="ctr"/>
          <a:lstStyle/>
          <a:p>
            <a:pPr marL="0" indent="0">
              <a:lnSpc>
                <a:spcPct val="125000"/>
              </a:lnSpc>
              <a:buNone/>
            </a:pPr>
            <a:r>
              <a:rPr lang="en-US" sz="1400" dirty="0">
                <a:solidFill>
                  <a:srgbClr val="555566"/>
                </a:solidFill>
                <a:latin typeface="Calibri" pitchFamily="34" charset="0"/>
                <a:ea typeface="Calibri" pitchFamily="34" charset="-122"/>
                <a:cs typeface="Calibri" pitchFamily="34" charset="-120"/>
              </a:rPr>
              <a:t>Attendance in most institutions is still recorded on paper registers, called out name by name at the start of every class.</a:t>
            </a:r>
            <a:endParaRPr lang="en-US" sz="1400" dirty="0"/>
          </a:p>
        </p:txBody>
      </p:sp>
      <p:sp>
        <p:nvSpPr>
          <p:cNvPr id="8" name="Text 6"/>
          <p:cNvSpPr txBox="1"/>
          <p:nvPr/>
        </p:nvSpPr>
        <p:spPr>
          <a:xfrm>
            <a:off x="868680" y="3017520"/>
            <a:ext cx="3977640" cy="1463040"/>
          </a:xfrm>
          <a:prstGeom prst="rect">
            <a:avLst/>
          </a:prstGeom>
          <a:noFill/>
          <a:ln/>
        </p:spPr>
        <p:txBody>
          <a:bodyPr wrap="square" lIns="0" tIns="0" rIns="0" bIns="0" rtlCol="0" anchor="ctr"/>
          <a:lstStyle/>
          <a:p>
            <a:pPr marL="0" indent="0">
              <a:lnSpc>
                <a:spcPct val="125000"/>
              </a:lnSpc>
              <a:buNone/>
            </a:pPr>
            <a:r>
              <a:rPr lang="en-US" sz="1400" dirty="0">
                <a:solidFill>
                  <a:srgbClr val="555566"/>
                </a:solidFill>
                <a:latin typeface="Calibri" pitchFamily="34" charset="0"/>
                <a:ea typeface="Calibri" pitchFamily="34" charset="-122"/>
                <a:cs typeface="Calibri" pitchFamily="34" charset="-120"/>
              </a:rPr>
              <a:t>The method is slow, easy to manipulate and produces records that are difficult to store, search or summarise. There is no reliable way to confirm that the student marked present was actually in the room.</a:t>
            </a:r>
            <a:endParaRPr lang="en-US" sz="1400" dirty="0"/>
          </a:p>
        </p:txBody>
      </p:sp>
      <p:sp>
        <p:nvSpPr>
          <p:cNvPr id="9" name="Shape 7"/>
          <p:cNvSpPr/>
          <p:nvPr/>
        </p:nvSpPr>
        <p:spPr>
          <a:xfrm>
            <a:off x="868680" y="4617720"/>
            <a:ext cx="3977640" cy="1188720"/>
          </a:xfrm>
          <a:prstGeom prst="roundRect">
            <a:avLst>
              <a:gd name="adj" fmla="val 6154"/>
            </a:avLst>
          </a:prstGeom>
          <a:solidFill>
            <a:srgbClr val="FFFFFF"/>
          </a:solidFill>
          <a:ln w="15875">
            <a:solidFill>
              <a:srgbClr val="990011"/>
            </a:solidFill>
            <a:prstDash val="solid"/>
          </a:ln>
        </p:spPr>
      </p:sp>
      <p:sp>
        <p:nvSpPr>
          <p:cNvPr id="10" name="Text 8"/>
          <p:cNvSpPr txBox="1"/>
          <p:nvPr/>
        </p:nvSpPr>
        <p:spPr>
          <a:xfrm>
            <a:off x="1097280" y="4800600"/>
            <a:ext cx="3520440" cy="822960"/>
          </a:xfrm>
          <a:prstGeom prst="rect">
            <a:avLst/>
          </a:prstGeom>
          <a:noFill/>
          <a:ln/>
        </p:spPr>
        <p:txBody>
          <a:bodyPr wrap="square" lIns="0" tIns="0" rIns="0" bIns="0" rtlCol="0" anchor="ctr"/>
          <a:lstStyle/>
          <a:p>
            <a:pPr marL="0" indent="0">
              <a:lnSpc>
                <a:spcPct val="120000"/>
              </a:lnSpc>
              <a:buNone/>
            </a:pPr>
            <a:r>
              <a:rPr lang="en-US" sz="1300" b="1" i="1" dirty="0">
                <a:solidFill>
                  <a:srgbClr val="990011"/>
                </a:solidFill>
                <a:latin typeface="Calibri" pitchFamily="34" charset="0"/>
                <a:ea typeface="Calibri" pitchFamily="34" charset="-122"/>
                <a:cs typeface="Calibri" pitchFamily="34" charset="-120"/>
              </a:rPr>
              <a:t>A verification layer is needed that proves physical presence and writes it straight into a queryable database.</a:t>
            </a:r>
            <a:endParaRPr lang="en-US" sz="1300" dirty="0"/>
          </a:p>
        </p:txBody>
      </p:sp>
      <p:sp>
        <p:nvSpPr>
          <p:cNvPr id="11" name="Shape 9"/>
          <p:cNvSpPr/>
          <p:nvPr/>
        </p:nvSpPr>
        <p:spPr>
          <a:xfrm>
            <a:off x="5440680" y="1234440"/>
            <a:ext cx="2944368" cy="2423160"/>
          </a:xfrm>
          <a:prstGeom prst="roundRect">
            <a:avLst>
              <a:gd name="adj" fmla="val 3019"/>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12" name="Shape 10"/>
          <p:cNvSpPr/>
          <p:nvPr/>
        </p:nvSpPr>
        <p:spPr>
          <a:xfrm>
            <a:off x="5715000" y="1527048"/>
            <a:ext cx="384048" cy="384048"/>
          </a:xfrm>
          <a:prstGeom prst="roundRect">
            <a:avLst>
              <a:gd name="adj" fmla="val 23810"/>
            </a:avLst>
          </a:prstGeom>
          <a:solidFill>
            <a:srgbClr val="FBEAEC"/>
          </a:solidFill>
          <a:ln/>
        </p:spPr>
      </p:sp>
      <p:sp>
        <p:nvSpPr>
          <p:cNvPr id="13" name="Text 11"/>
          <p:cNvSpPr txBox="1"/>
          <p:nvPr/>
        </p:nvSpPr>
        <p:spPr>
          <a:xfrm>
            <a:off x="5715000" y="1527048"/>
            <a:ext cx="384048" cy="384048"/>
          </a:xfrm>
          <a:prstGeom prst="rect">
            <a:avLst/>
          </a:prstGeom>
          <a:noFill/>
          <a:ln/>
        </p:spPr>
        <p:txBody>
          <a:bodyPr wrap="square" lIns="0" tIns="0" rIns="0" bIns="0" rtlCol="0" anchor="ctr"/>
          <a:lstStyle/>
          <a:p>
            <a:pPr marL="0" indent="0" algn="ctr">
              <a:buNone/>
            </a:pPr>
            <a:r>
              <a:rPr lang="en-US" sz="1300" b="1" dirty="0">
                <a:solidFill>
                  <a:srgbClr val="990011"/>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5715000" y="2075688"/>
            <a:ext cx="2377440" cy="457200"/>
          </a:xfrm>
          <a:prstGeom prst="rect">
            <a:avLst/>
          </a:prstGeom>
          <a:noFill/>
          <a:ln/>
        </p:spPr>
        <p:txBody>
          <a:bodyPr wrap="square" lIns="0" tIns="0" rIns="0" bIns="0" rtlCol="0" anchor="ctr"/>
          <a:lstStyle/>
          <a:p>
            <a:pPr marL="0" indent="0">
              <a:buNone/>
            </a:pPr>
            <a:r>
              <a:rPr lang="en-US" sz="2400" b="1" dirty="0">
                <a:solidFill>
                  <a:srgbClr val="2F3C7E"/>
                </a:solidFill>
                <a:latin typeface="Cambria" pitchFamily="34" charset="0"/>
                <a:ea typeface="Cambria" pitchFamily="34" charset="-122"/>
                <a:cs typeface="Cambria" pitchFamily="34" charset="-120"/>
              </a:rPr>
              <a:t>5-10 min</a:t>
            </a:r>
            <a:endParaRPr lang="en-US" sz="2400" dirty="0"/>
          </a:p>
        </p:txBody>
      </p:sp>
      <p:sp>
        <p:nvSpPr>
          <p:cNvPr id="15" name="Text 13"/>
          <p:cNvSpPr txBox="1"/>
          <p:nvPr/>
        </p:nvSpPr>
        <p:spPr>
          <a:xfrm>
            <a:off x="5715000" y="2587752"/>
            <a:ext cx="2395728" cy="91440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lost per lecture to manual roll call, cutting into teaching time</a:t>
            </a:r>
            <a:endParaRPr lang="en-US" sz="1250" dirty="0"/>
          </a:p>
        </p:txBody>
      </p:sp>
      <p:sp>
        <p:nvSpPr>
          <p:cNvPr id="16" name="Shape 14"/>
          <p:cNvSpPr/>
          <p:nvPr/>
        </p:nvSpPr>
        <p:spPr>
          <a:xfrm>
            <a:off x="8641080" y="1234440"/>
            <a:ext cx="2944368" cy="2423160"/>
          </a:xfrm>
          <a:prstGeom prst="roundRect">
            <a:avLst>
              <a:gd name="adj" fmla="val 3019"/>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17" name="Shape 15"/>
          <p:cNvSpPr/>
          <p:nvPr/>
        </p:nvSpPr>
        <p:spPr>
          <a:xfrm>
            <a:off x="8915400" y="1527048"/>
            <a:ext cx="384048" cy="384048"/>
          </a:xfrm>
          <a:prstGeom prst="roundRect">
            <a:avLst>
              <a:gd name="adj" fmla="val 23810"/>
            </a:avLst>
          </a:prstGeom>
          <a:solidFill>
            <a:srgbClr val="FBEAEC"/>
          </a:solidFill>
          <a:ln/>
        </p:spPr>
      </p:sp>
      <p:sp>
        <p:nvSpPr>
          <p:cNvPr id="18" name="Text 16"/>
          <p:cNvSpPr txBox="1"/>
          <p:nvPr/>
        </p:nvSpPr>
        <p:spPr>
          <a:xfrm>
            <a:off x="8915400" y="1527048"/>
            <a:ext cx="384048" cy="384048"/>
          </a:xfrm>
          <a:prstGeom prst="rect">
            <a:avLst/>
          </a:prstGeom>
          <a:noFill/>
          <a:ln/>
        </p:spPr>
        <p:txBody>
          <a:bodyPr wrap="square" lIns="0" tIns="0" rIns="0" bIns="0" rtlCol="0" anchor="ctr"/>
          <a:lstStyle/>
          <a:p>
            <a:pPr marL="0" indent="0" algn="ctr">
              <a:buNone/>
            </a:pPr>
            <a:r>
              <a:rPr lang="en-US" sz="1300" b="1" dirty="0">
                <a:solidFill>
                  <a:srgbClr val="990011"/>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8915400" y="2075688"/>
            <a:ext cx="2377440" cy="457200"/>
          </a:xfrm>
          <a:prstGeom prst="rect">
            <a:avLst/>
          </a:prstGeom>
          <a:noFill/>
          <a:ln/>
        </p:spPr>
        <p:txBody>
          <a:bodyPr wrap="square" lIns="0" tIns="0" rIns="0" bIns="0" rtlCol="0" anchor="ctr"/>
          <a:lstStyle/>
          <a:p>
            <a:pPr marL="0" indent="0">
              <a:buNone/>
            </a:pPr>
            <a:r>
              <a:rPr lang="en-US" sz="2400" b="1" dirty="0">
                <a:solidFill>
                  <a:srgbClr val="2F3C7E"/>
                </a:solidFill>
                <a:latin typeface="Cambria" pitchFamily="34" charset="0"/>
                <a:ea typeface="Cambria" pitchFamily="34" charset="-122"/>
                <a:cs typeface="Cambria" pitchFamily="34" charset="-120"/>
              </a:rPr>
              <a:t>Proxy</a:t>
            </a:r>
            <a:endParaRPr lang="en-US" sz="2400" dirty="0"/>
          </a:p>
        </p:txBody>
      </p:sp>
      <p:sp>
        <p:nvSpPr>
          <p:cNvPr id="20" name="Text 18"/>
          <p:cNvSpPr txBox="1"/>
          <p:nvPr/>
        </p:nvSpPr>
        <p:spPr>
          <a:xfrm>
            <a:off x="8915400" y="2587752"/>
            <a:ext cx="2395728" cy="91440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attendance is trivial — a friend simply answers on your behalf</a:t>
            </a:r>
            <a:endParaRPr lang="en-US" sz="1250" dirty="0"/>
          </a:p>
        </p:txBody>
      </p:sp>
      <p:sp>
        <p:nvSpPr>
          <p:cNvPr id="21" name="Shape 19"/>
          <p:cNvSpPr/>
          <p:nvPr/>
        </p:nvSpPr>
        <p:spPr>
          <a:xfrm>
            <a:off x="5440680" y="3840480"/>
            <a:ext cx="2944368" cy="2423160"/>
          </a:xfrm>
          <a:prstGeom prst="roundRect">
            <a:avLst>
              <a:gd name="adj" fmla="val 3019"/>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22" name="Shape 20"/>
          <p:cNvSpPr/>
          <p:nvPr/>
        </p:nvSpPr>
        <p:spPr>
          <a:xfrm>
            <a:off x="5715000" y="4133088"/>
            <a:ext cx="384048" cy="384048"/>
          </a:xfrm>
          <a:prstGeom prst="roundRect">
            <a:avLst>
              <a:gd name="adj" fmla="val 23810"/>
            </a:avLst>
          </a:prstGeom>
          <a:solidFill>
            <a:srgbClr val="FBEAEC"/>
          </a:solidFill>
          <a:ln/>
        </p:spPr>
      </p:sp>
      <p:sp>
        <p:nvSpPr>
          <p:cNvPr id="23" name="Text 21"/>
          <p:cNvSpPr txBox="1"/>
          <p:nvPr/>
        </p:nvSpPr>
        <p:spPr>
          <a:xfrm>
            <a:off x="5715000" y="4133088"/>
            <a:ext cx="384048" cy="384048"/>
          </a:xfrm>
          <a:prstGeom prst="rect">
            <a:avLst/>
          </a:prstGeom>
          <a:noFill/>
          <a:ln/>
        </p:spPr>
        <p:txBody>
          <a:bodyPr wrap="square" lIns="0" tIns="0" rIns="0" bIns="0" rtlCol="0" anchor="ctr"/>
          <a:lstStyle/>
          <a:p>
            <a:pPr marL="0" indent="0" algn="ctr">
              <a:buNone/>
            </a:pPr>
            <a:r>
              <a:rPr lang="en-US" sz="1300" b="1" dirty="0">
                <a:solidFill>
                  <a:srgbClr val="990011"/>
                </a:solidFill>
                <a:latin typeface="Calibri" pitchFamily="34" charset="0"/>
                <a:ea typeface="Calibri" pitchFamily="34" charset="-122"/>
                <a:cs typeface="Calibri" pitchFamily="34" charset="-120"/>
              </a:rPr>
              <a:t>3</a:t>
            </a:r>
            <a:endParaRPr lang="en-US" sz="1300" dirty="0"/>
          </a:p>
        </p:txBody>
      </p:sp>
      <p:sp>
        <p:nvSpPr>
          <p:cNvPr id="24" name="Text 22"/>
          <p:cNvSpPr txBox="1"/>
          <p:nvPr/>
        </p:nvSpPr>
        <p:spPr>
          <a:xfrm>
            <a:off x="5715000" y="4681728"/>
            <a:ext cx="2377440" cy="457200"/>
          </a:xfrm>
          <a:prstGeom prst="rect">
            <a:avLst/>
          </a:prstGeom>
          <a:noFill/>
          <a:ln/>
        </p:spPr>
        <p:txBody>
          <a:bodyPr wrap="square" lIns="0" tIns="0" rIns="0" bIns="0" rtlCol="0" anchor="ctr"/>
          <a:lstStyle/>
          <a:p>
            <a:pPr marL="0" indent="0">
              <a:buNone/>
            </a:pPr>
            <a:r>
              <a:rPr lang="en-US" sz="2400" b="1" dirty="0">
                <a:solidFill>
                  <a:srgbClr val="2F3C7E"/>
                </a:solidFill>
                <a:latin typeface="Cambria" pitchFamily="34" charset="0"/>
                <a:ea typeface="Cambria" pitchFamily="34" charset="-122"/>
                <a:cs typeface="Cambria" pitchFamily="34" charset="-120"/>
              </a:rPr>
              <a:t>Errors</a:t>
            </a:r>
            <a:endParaRPr lang="en-US" sz="2400" dirty="0"/>
          </a:p>
        </p:txBody>
      </p:sp>
      <p:sp>
        <p:nvSpPr>
          <p:cNvPr id="25" name="Text 23"/>
          <p:cNvSpPr txBox="1"/>
          <p:nvPr/>
        </p:nvSpPr>
        <p:spPr>
          <a:xfrm>
            <a:off x="5715000" y="5193792"/>
            <a:ext cx="2395728" cy="91440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creep in when registers are transcribed into spreadsheets by hand</a:t>
            </a:r>
            <a:endParaRPr lang="en-US" sz="1250" dirty="0"/>
          </a:p>
        </p:txBody>
      </p:sp>
      <p:sp>
        <p:nvSpPr>
          <p:cNvPr id="26" name="Shape 24"/>
          <p:cNvSpPr/>
          <p:nvPr/>
        </p:nvSpPr>
        <p:spPr>
          <a:xfrm>
            <a:off x="8641080" y="3840480"/>
            <a:ext cx="2944368" cy="2423160"/>
          </a:xfrm>
          <a:prstGeom prst="roundRect">
            <a:avLst>
              <a:gd name="adj" fmla="val 3019"/>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27" name="Shape 25"/>
          <p:cNvSpPr/>
          <p:nvPr/>
        </p:nvSpPr>
        <p:spPr>
          <a:xfrm>
            <a:off x="8915400" y="4133088"/>
            <a:ext cx="384048" cy="384048"/>
          </a:xfrm>
          <a:prstGeom prst="roundRect">
            <a:avLst>
              <a:gd name="adj" fmla="val 23810"/>
            </a:avLst>
          </a:prstGeom>
          <a:solidFill>
            <a:srgbClr val="FBEAEC"/>
          </a:solidFill>
          <a:ln/>
        </p:spPr>
      </p:sp>
      <p:sp>
        <p:nvSpPr>
          <p:cNvPr id="28" name="Text 26"/>
          <p:cNvSpPr txBox="1"/>
          <p:nvPr/>
        </p:nvSpPr>
        <p:spPr>
          <a:xfrm>
            <a:off x="8915400" y="4133088"/>
            <a:ext cx="384048" cy="384048"/>
          </a:xfrm>
          <a:prstGeom prst="rect">
            <a:avLst/>
          </a:prstGeom>
          <a:noFill/>
          <a:ln/>
        </p:spPr>
        <p:txBody>
          <a:bodyPr wrap="square" lIns="0" tIns="0" rIns="0" bIns="0" rtlCol="0" anchor="ctr"/>
          <a:lstStyle/>
          <a:p>
            <a:pPr marL="0" indent="0" algn="ctr">
              <a:buNone/>
            </a:pPr>
            <a:r>
              <a:rPr lang="en-US" sz="1300" b="1" dirty="0">
                <a:solidFill>
                  <a:srgbClr val="990011"/>
                </a:solidFill>
                <a:latin typeface="Calibri" pitchFamily="34" charset="0"/>
                <a:ea typeface="Calibri" pitchFamily="34" charset="-122"/>
                <a:cs typeface="Calibri" pitchFamily="34" charset="-120"/>
              </a:rPr>
              <a:t>4</a:t>
            </a:r>
            <a:endParaRPr lang="en-US" sz="1300" dirty="0"/>
          </a:p>
        </p:txBody>
      </p:sp>
      <p:sp>
        <p:nvSpPr>
          <p:cNvPr id="29" name="Text 27"/>
          <p:cNvSpPr txBox="1"/>
          <p:nvPr/>
        </p:nvSpPr>
        <p:spPr>
          <a:xfrm>
            <a:off x="8915400" y="4681728"/>
            <a:ext cx="2377440" cy="457200"/>
          </a:xfrm>
          <a:prstGeom prst="rect">
            <a:avLst/>
          </a:prstGeom>
          <a:noFill/>
          <a:ln/>
        </p:spPr>
        <p:txBody>
          <a:bodyPr wrap="square" lIns="0" tIns="0" rIns="0" bIns="0" rtlCol="0" anchor="ctr"/>
          <a:lstStyle/>
          <a:p>
            <a:pPr marL="0" indent="0">
              <a:buNone/>
            </a:pPr>
            <a:r>
              <a:rPr lang="en-US" sz="2400" b="1" dirty="0">
                <a:solidFill>
                  <a:srgbClr val="2F3C7E"/>
                </a:solidFill>
                <a:latin typeface="Cambria" pitchFamily="34" charset="0"/>
                <a:ea typeface="Cambria" pitchFamily="34" charset="-122"/>
                <a:cs typeface="Cambria" pitchFamily="34" charset="-120"/>
              </a:rPr>
              <a:t>No reports</a:t>
            </a:r>
            <a:endParaRPr lang="en-US" sz="2400" dirty="0"/>
          </a:p>
        </p:txBody>
      </p:sp>
      <p:sp>
        <p:nvSpPr>
          <p:cNvPr id="30" name="Text 28"/>
          <p:cNvSpPr txBox="1"/>
          <p:nvPr/>
        </p:nvSpPr>
        <p:spPr>
          <a:xfrm>
            <a:off x="8915400" y="5193792"/>
            <a:ext cx="2395728" cy="91440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without effort — a defaulter list means counting rows manually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20624"/>
            <a:ext cx="475488" cy="475488"/>
          </a:xfrm>
          <a:prstGeom prst="ellipse">
            <a:avLst/>
          </a:prstGeom>
          <a:solidFill>
            <a:srgbClr val="990011"/>
          </a:solidFill>
          <a:ln/>
        </p:spPr>
      </p:sp>
      <p:sp>
        <p:nvSpPr>
          <p:cNvPr id="3" name="Text 1"/>
          <p:cNvSpPr txBox="1"/>
          <p:nvPr/>
        </p:nvSpPr>
        <p:spPr>
          <a:xfrm>
            <a:off x="548640" y="42062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170432" y="384048"/>
            <a:ext cx="10424160" cy="548640"/>
          </a:xfrm>
          <a:prstGeom prst="rect">
            <a:avLst/>
          </a:prstGeom>
          <a:noFill/>
          <a:ln/>
        </p:spPr>
        <p:txBody>
          <a:bodyPr wrap="square" lIns="0" tIns="0" rIns="0" bIns="0" rtlCol="0" anchor="ctr"/>
          <a:lstStyle/>
          <a:p>
            <a:pPr marL="0" indent="0">
              <a:buNone/>
            </a:pPr>
            <a:r>
              <a:rPr lang="en-US" sz="3400" b="1" dirty="0">
                <a:solidFill>
                  <a:srgbClr val="2F3C7E"/>
                </a:solidFill>
                <a:latin typeface="Cambria" pitchFamily="34" charset="0"/>
                <a:ea typeface="Cambria" pitchFamily="34" charset="-122"/>
                <a:cs typeface="Cambria" pitchFamily="34" charset="-120"/>
              </a:rPr>
              <a:t>EXISTING SYSTEM</a:t>
            </a:r>
            <a:endParaRPr lang="en-US" sz="3400" dirty="0"/>
          </a:p>
        </p:txBody>
      </p:sp>
      <p:sp>
        <p:nvSpPr>
          <p:cNvPr id="5" name="Text 3"/>
          <p:cNvSpPr txBox="1"/>
          <p:nvPr/>
        </p:nvSpPr>
        <p:spPr>
          <a:xfrm>
            <a:off x="548640" y="1097280"/>
            <a:ext cx="11091672" cy="320040"/>
          </a:xfrm>
          <a:prstGeom prst="rect">
            <a:avLst/>
          </a:prstGeom>
          <a:noFill/>
          <a:ln/>
        </p:spPr>
        <p:txBody>
          <a:bodyPr wrap="square" lIns="0" tIns="0" rIns="0" bIns="0" rtlCol="0" anchor="ctr"/>
          <a:lstStyle/>
          <a:p>
            <a:pPr marL="0" indent="0">
              <a:buNone/>
            </a:pPr>
            <a:r>
              <a:rPr lang="en-US" sz="1400" i="1" dirty="0">
                <a:solidFill>
                  <a:srgbClr val="555566"/>
                </a:solidFill>
                <a:latin typeface="Calibri" pitchFamily="34" charset="0"/>
                <a:ea typeface="Calibri" pitchFamily="34" charset="-122"/>
                <a:cs typeface="Calibri" pitchFamily="34" charset="-120"/>
              </a:rPr>
              <a:t>How attendance is handled today — and where each step breaks down.</a:t>
            </a:r>
            <a:endParaRPr lang="en-US" sz="1400" dirty="0"/>
          </a:p>
        </p:txBody>
      </p:sp>
      <p:sp>
        <p:nvSpPr>
          <p:cNvPr id="6" name="Shape 4"/>
          <p:cNvSpPr/>
          <p:nvPr/>
        </p:nvSpPr>
        <p:spPr>
          <a:xfrm>
            <a:off x="548640" y="1572768"/>
            <a:ext cx="11091672" cy="822960"/>
          </a:xfrm>
          <a:prstGeom prst="roundRect">
            <a:avLst>
              <a:gd name="adj" fmla="val 8889"/>
            </a:avLst>
          </a:prstGeom>
          <a:solidFill>
            <a:srgbClr val="F4F4F6"/>
          </a:solidFill>
          <a:ln w="12700">
            <a:solidFill>
              <a:srgbClr val="E4E4EA"/>
            </a:solidFill>
            <a:prstDash val="solid"/>
          </a:ln>
          <a:effectLst>
            <a:outerShdw blurRad="101600" dist="25400" dir="5400000" algn="bl" rotWithShape="0">
              <a:srgbClr val="9AA0B5">
                <a:alpha val="25000"/>
              </a:srgbClr>
            </a:outerShdw>
          </a:effectLst>
        </p:spPr>
      </p:sp>
      <p:sp>
        <p:nvSpPr>
          <p:cNvPr id="7" name="Shape 5"/>
          <p:cNvSpPr/>
          <p:nvPr/>
        </p:nvSpPr>
        <p:spPr>
          <a:xfrm>
            <a:off x="822960" y="1773936"/>
            <a:ext cx="420624" cy="420624"/>
          </a:xfrm>
          <a:prstGeom prst="ellipse">
            <a:avLst/>
          </a:prstGeom>
          <a:solidFill>
            <a:srgbClr val="2F3C7E"/>
          </a:solidFill>
          <a:ln/>
        </p:spPr>
      </p:sp>
      <p:sp>
        <p:nvSpPr>
          <p:cNvPr id="8" name="Text 6"/>
          <p:cNvSpPr txBox="1"/>
          <p:nvPr/>
        </p:nvSpPr>
        <p:spPr>
          <a:xfrm>
            <a:off x="822960" y="177393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417320" y="1572768"/>
            <a:ext cx="2651760" cy="822960"/>
          </a:xfrm>
          <a:prstGeom prst="rect">
            <a:avLst/>
          </a:prstGeom>
          <a:noFill/>
          <a:ln/>
        </p:spPr>
        <p:txBody>
          <a:bodyPr wrap="square" lIns="0" tIns="0" rIns="0" bIns="0" rtlCol="0" anchor="ctr"/>
          <a:lstStyle/>
          <a:p>
            <a:pPr marL="0" indent="0">
              <a:buNone/>
            </a:pPr>
            <a:r>
              <a:rPr lang="en-US" sz="1500" b="1" dirty="0">
                <a:solidFill>
                  <a:srgbClr val="2F3C7E"/>
                </a:solidFill>
                <a:latin typeface="Cambria" pitchFamily="34" charset="0"/>
                <a:ea typeface="Cambria" pitchFamily="34" charset="-122"/>
                <a:cs typeface="Cambria" pitchFamily="34" charset="-120"/>
              </a:rPr>
              <a:t>Paper register</a:t>
            </a:r>
            <a:endParaRPr lang="en-US" sz="1500" dirty="0"/>
          </a:p>
        </p:txBody>
      </p:sp>
      <p:sp>
        <p:nvSpPr>
          <p:cNvPr id="10" name="Text 8"/>
          <p:cNvSpPr txBox="1"/>
          <p:nvPr/>
        </p:nvSpPr>
        <p:spPr>
          <a:xfrm>
            <a:off x="4114800" y="1572768"/>
            <a:ext cx="7315200" cy="822960"/>
          </a:xfrm>
          <a:prstGeom prst="rect">
            <a:avLst/>
          </a:prstGeom>
          <a:noFill/>
          <a:ln/>
        </p:spPr>
        <p:txBody>
          <a:bodyPr wrap="square" lIns="0" tIns="0" rIns="0" bIns="0" rtlCol="0" anchor="ctr"/>
          <a:lstStyle/>
          <a:p>
            <a:pPr marL="0" indent="0">
              <a:buNone/>
            </a:pPr>
            <a:r>
              <a:rPr lang="en-US" sz="1300" dirty="0">
                <a:solidFill>
                  <a:srgbClr val="555566"/>
                </a:solidFill>
                <a:latin typeface="Calibri" pitchFamily="34" charset="0"/>
                <a:ea typeface="Calibri" pitchFamily="34" charset="-122"/>
                <a:cs typeface="Calibri" pitchFamily="34" charset="-120"/>
              </a:rPr>
              <a:t>The faculty carries a physical register and calls out roll numbers one by one.</a:t>
            </a:r>
            <a:endParaRPr lang="en-US" sz="1300" dirty="0"/>
          </a:p>
        </p:txBody>
      </p:sp>
      <p:sp>
        <p:nvSpPr>
          <p:cNvPr id="11" name="Shape 9"/>
          <p:cNvSpPr/>
          <p:nvPr/>
        </p:nvSpPr>
        <p:spPr>
          <a:xfrm>
            <a:off x="548640" y="2514600"/>
            <a:ext cx="11091672" cy="822960"/>
          </a:xfrm>
          <a:prstGeom prst="roundRect">
            <a:avLst>
              <a:gd name="adj" fmla="val 8889"/>
            </a:avLst>
          </a:prstGeom>
          <a:solidFill>
            <a:srgbClr val="FFFFFF"/>
          </a:solidFill>
          <a:ln w="12700">
            <a:solidFill>
              <a:srgbClr val="E4E4EA"/>
            </a:solidFill>
            <a:prstDash val="solid"/>
          </a:ln>
          <a:effectLst>
            <a:outerShdw blurRad="101600" dist="25400" dir="5400000" algn="bl" rotWithShape="0">
              <a:srgbClr val="9AA0B5">
                <a:alpha val="25000"/>
              </a:srgbClr>
            </a:outerShdw>
          </a:effectLst>
        </p:spPr>
      </p:sp>
      <p:sp>
        <p:nvSpPr>
          <p:cNvPr id="12" name="Shape 10"/>
          <p:cNvSpPr/>
          <p:nvPr/>
        </p:nvSpPr>
        <p:spPr>
          <a:xfrm>
            <a:off x="822960" y="2715768"/>
            <a:ext cx="420624" cy="420624"/>
          </a:xfrm>
          <a:prstGeom prst="ellipse">
            <a:avLst/>
          </a:prstGeom>
          <a:solidFill>
            <a:srgbClr val="2F3C7E"/>
          </a:solidFill>
          <a:ln/>
        </p:spPr>
      </p:sp>
      <p:sp>
        <p:nvSpPr>
          <p:cNvPr id="13" name="Text 11"/>
          <p:cNvSpPr txBox="1"/>
          <p:nvPr/>
        </p:nvSpPr>
        <p:spPr>
          <a:xfrm>
            <a:off x="822960" y="271576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417320" y="2514600"/>
            <a:ext cx="2651760" cy="822960"/>
          </a:xfrm>
          <a:prstGeom prst="rect">
            <a:avLst/>
          </a:prstGeom>
          <a:noFill/>
          <a:ln/>
        </p:spPr>
        <p:txBody>
          <a:bodyPr wrap="square" lIns="0" tIns="0" rIns="0" bIns="0" rtlCol="0" anchor="ctr"/>
          <a:lstStyle/>
          <a:p>
            <a:pPr marL="0" indent="0">
              <a:buNone/>
            </a:pPr>
            <a:r>
              <a:rPr lang="en-US" sz="1500" b="1" dirty="0">
                <a:solidFill>
                  <a:srgbClr val="2F3C7E"/>
                </a:solidFill>
                <a:latin typeface="Cambria" pitchFamily="34" charset="0"/>
                <a:ea typeface="Cambria" pitchFamily="34" charset="-122"/>
                <a:cs typeface="Cambria" pitchFamily="34" charset="-120"/>
              </a:rPr>
              <a:t>Verbal confirmation</a:t>
            </a:r>
            <a:endParaRPr lang="en-US" sz="1500" dirty="0"/>
          </a:p>
        </p:txBody>
      </p:sp>
      <p:sp>
        <p:nvSpPr>
          <p:cNvPr id="15" name="Text 13"/>
          <p:cNvSpPr txBox="1"/>
          <p:nvPr/>
        </p:nvSpPr>
        <p:spPr>
          <a:xfrm>
            <a:off x="4114800" y="2514600"/>
            <a:ext cx="7315200" cy="822960"/>
          </a:xfrm>
          <a:prstGeom prst="rect">
            <a:avLst/>
          </a:prstGeom>
          <a:noFill/>
          <a:ln/>
        </p:spPr>
        <p:txBody>
          <a:bodyPr wrap="square" lIns="0" tIns="0" rIns="0" bIns="0" rtlCol="0" anchor="ctr"/>
          <a:lstStyle/>
          <a:p>
            <a:pPr marL="0" indent="0">
              <a:buNone/>
            </a:pPr>
            <a:r>
              <a:rPr lang="en-US" sz="1300" dirty="0">
                <a:solidFill>
                  <a:srgbClr val="555566"/>
                </a:solidFill>
                <a:latin typeface="Calibri" pitchFamily="34" charset="0"/>
                <a:ea typeface="Calibri" pitchFamily="34" charset="-122"/>
                <a:cs typeface="Calibri" pitchFamily="34" charset="-120"/>
              </a:rPr>
              <a:t>Presence is accepted on a spoken response — identity is never actually verified.</a:t>
            </a:r>
            <a:endParaRPr lang="en-US" sz="1300" dirty="0"/>
          </a:p>
        </p:txBody>
      </p:sp>
      <p:sp>
        <p:nvSpPr>
          <p:cNvPr id="16" name="Shape 14"/>
          <p:cNvSpPr/>
          <p:nvPr/>
        </p:nvSpPr>
        <p:spPr>
          <a:xfrm>
            <a:off x="548640" y="3456432"/>
            <a:ext cx="11091672" cy="822960"/>
          </a:xfrm>
          <a:prstGeom prst="roundRect">
            <a:avLst>
              <a:gd name="adj" fmla="val 8889"/>
            </a:avLst>
          </a:prstGeom>
          <a:solidFill>
            <a:srgbClr val="F4F4F6"/>
          </a:solidFill>
          <a:ln w="12700">
            <a:solidFill>
              <a:srgbClr val="E4E4EA"/>
            </a:solidFill>
            <a:prstDash val="solid"/>
          </a:ln>
          <a:effectLst>
            <a:outerShdw blurRad="101600" dist="25400" dir="5400000" algn="bl" rotWithShape="0">
              <a:srgbClr val="9AA0B5">
                <a:alpha val="25000"/>
              </a:srgbClr>
            </a:outerShdw>
          </a:effectLst>
        </p:spPr>
      </p:sp>
      <p:sp>
        <p:nvSpPr>
          <p:cNvPr id="17" name="Shape 15"/>
          <p:cNvSpPr/>
          <p:nvPr/>
        </p:nvSpPr>
        <p:spPr>
          <a:xfrm>
            <a:off x="822960" y="3657600"/>
            <a:ext cx="420624" cy="420624"/>
          </a:xfrm>
          <a:prstGeom prst="ellipse">
            <a:avLst/>
          </a:prstGeom>
          <a:solidFill>
            <a:srgbClr val="2F3C7E"/>
          </a:solidFill>
          <a:ln/>
        </p:spPr>
      </p:sp>
      <p:sp>
        <p:nvSpPr>
          <p:cNvPr id="18" name="Text 16"/>
          <p:cNvSpPr txBox="1"/>
          <p:nvPr/>
        </p:nvSpPr>
        <p:spPr>
          <a:xfrm>
            <a:off x="822960" y="36576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417320" y="3456432"/>
            <a:ext cx="2651760" cy="822960"/>
          </a:xfrm>
          <a:prstGeom prst="rect">
            <a:avLst/>
          </a:prstGeom>
          <a:noFill/>
          <a:ln/>
        </p:spPr>
        <p:txBody>
          <a:bodyPr wrap="square" lIns="0" tIns="0" rIns="0" bIns="0" rtlCol="0" anchor="ctr"/>
          <a:lstStyle/>
          <a:p>
            <a:pPr marL="0" indent="0">
              <a:buNone/>
            </a:pPr>
            <a:r>
              <a:rPr lang="en-US" sz="1500" b="1" dirty="0">
                <a:solidFill>
                  <a:srgbClr val="2F3C7E"/>
                </a:solidFill>
                <a:latin typeface="Cambria" pitchFamily="34" charset="0"/>
                <a:ea typeface="Cambria" pitchFamily="34" charset="-122"/>
                <a:cs typeface="Cambria" pitchFamily="34" charset="-120"/>
              </a:rPr>
              <a:t>Manual transcription</a:t>
            </a:r>
            <a:endParaRPr lang="en-US" sz="1500" dirty="0"/>
          </a:p>
        </p:txBody>
      </p:sp>
      <p:sp>
        <p:nvSpPr>
          <p:cNvPr id="20" name="Text 18"/>
          <p:cNvSpPr txBox="1"/>
          <p:nvPr/>
        </p:nvSpPr>
        <p:spPr>
          <a:xfrm>
            <a:off x="4114800" y="3456432"/>
            <a:ext cx="7315200" cy="822960"/>
          </a:xfrm>
          <a:prstGeom prst="rect">
            <a:avLst/>
          </a:prstGeom>
          <a:noFill/>
          <a:ln/>
        </p:spPr>
        <p:txBody>
          <a:bodyPr wrap="square" lIns="0" tIns="0" rIns="0" bIns="0" rtlCol="0" anchor="ctr"/>
          <a:lstStyle/>
          <a:p>
            <a:pPr marL="0" indent="0">
              <a:buNone/>
            </a:pPr>
            <a:r>
              <a:rPr lang="en-US" sz="1300" dirty="0">
                <a:solidFill>
                  <a:srgbClr val="555566"/>
                </a:solidFill>
                <a:latin typeface="Calibri" pitchFamily="34" charset="0"/>
                <a:ea typeface="Calibri" pitchFamily="34" charset="-122"/>
                <a:cs typeface="Calibri" pitchFamily="34" charset="-120"/>
              </a:rPr>
              <a:t>Marks are later copied into a spreadsheet, duplicating effort and adding errors.</a:t>
            </a:r>
            <a:endParaRPr lang="en-US" sz="1300" dirty="0"/>
          </a:p>
        </p:txBody>
      </p:sp>
      <p:sp>
        <p:nvSpPr>
          <p:cNvPr id="21" name="Shape 19"/>
          <p:cNvSpPr/>
          <p:nvPr/>
        </p:nvSpPr>
        <p:spPr>
          <a:xfrm>
            <a:off x="548640" y="4398264"/>
            <a:ext cx="11091672" cy="822960"/>
          </a:xfrm>
          <a:prstGeom prst="roundRect">
            <a:avLst>
              <a:gd name="adj" fmla="val 8889"/>
            </a:avLst>
          </a:prstGeom>
          <a:solidFill>
            <a:srgbClr val="FFFFFF"/>
          </a:solidFill>
          <a:ln w="12700">
            <a:solidFill>
              <a:srgbClr val="E4E4EA"/>
            </a:solidFill>
            <a:prstDash val="solid"/>
          </a:ln>
          <a:effectLst>
            <a:outerShdw blurRad="101600" dist="25400" dir="5400000" algn="bl" rotWithShape="0">
              <a:srgbClr val="9AA0B5">
                <a:alpha val="25000"/>
              </a:srgbClr>
            </a:outerShdw>
          </a:effectLst>
        </p:spPr>
      </p:sp>
      <p:sp>
        <p:nvSpPr>
          <p:cNvPr id="22" name="Shape 20"/>
          <p:cNvSpPr/>
          <p:nvPr/>
        </p:nvSpPr>
        <p:spPr>
          <a:xfrm>
            <a:off x="822960" y="4599432"/>
            <a:ext cx="420624" cy="420624"/>
          </a:xfrm>
          <a:prstGeom prst="ellipse">
            <a:avLst/>
          </a:prstGeom>
          <a:solidFill>
            <a:srgbClr val="2F3C7E"/>
          </a:solidFill>
          <a:ln/>
        </p:spPr>
      </p:sp>
      <p:sp>
        <p:nvSpPr>
          <p:cNvPr id="23" name="Text 21"/>
          <p:cNvSpPr txBox="1"/>
          <p:nvPr/>
        </p:nvSpPr>
        <p:spPr>
          <a:xfrm>
            <a:off x="822960" y="45994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1417320" y="4398264"/>
            <a:ext cx="2651760" cy="822960"/>
          </a:xfrm>
          <a:prstGeom prst="rect">
            <a:avLst/>
          </a:prstGeom>
          <a:noFill/>
          <a:ln/>
        </p:spPr>
        <p:txBody>
          <a:bodyPr wrap="square" lIns="0" tIns="0" rIns="0" bIns="0" rtlCol="0" anchor="ctr"/>
          <a:lstStyle/>
          <a:p>
            <a:pPr marL="0" indent="0">
              <a:buNone/>
            </a:pPr>
            <a:r>
              <a:rPr lang="en-US" sz="1500" b="1" dirty="0">
                <a:solidFill>
                  <a:srgbClr val="2F3C7E"/>
                </a:solidFill>
                <a:latin typeface="Cambria" pitchFamily="34" charset="0"/>
                <a:ea typeface="Cambria" pitchFamily="34" charset="-122"/>
                <a:cs typeface="Cambria" pitchFamily="34" charset="-120"/>
              </a:rPr>
              <a:t>Local, isolated storage</a:t>
            </a:r>
            <a:endParaRPr lang="en-US" sz="1500" dirty="0"/>
          </a:p>
        </p:txBody>
      </p:sp>
      <p:sp>
        <p:nvSpPr>
          <p:cNvPr id="25" name="Text 23"/>
          <p:cNvSpPr txBox="1"/>
          <p:nvPr/>
        </p:nvSpPr>
        <p:spPr>
          <a:xfrm>
            <a:off x="4114800" y="4398264"/>
            <a:ext cx="7315200" cy="822960"/>
          </a:xfrm>
          <a:prstGeom prst="rect">
            <a:avLst/>
          </a:prstGeom>
          <a:noFill/>
          <a:ln/>
        </p:spPr>
        <p:txBody>
          <a:bodyPr wrap="square" lIns="0" tIns="0" rIns="0" bIns="0" rtlCol="0" anchor="ctr"/>
          <a:lstStyle/>
          <a:p>
            <a:pPr marL="0" indent="0">
              <a:buNone/>
            </a:pPr>
            <a:r>
              <a:rPr lang="en-US" sz="1300" dirty="0">
                <a:solidFill>
                  <a:srgbClr val="555566"/>
                </a:solidFill>
                <a:latin typeface="Calibri" pitchFamily="34" charset="0"/>
                <a:ea typeface="Calibri" pitchFamily="34" charset="-122"/>
                <a:cs typeface="Calibri" pitchFamily="34" charset="-120"/>
              </a:rPr>
              <a:t>Each register lives with one faculty member; there is no shared, central record.</a:t>
            </a:r>
            <a:endParaRPr lang="en-US" sz="1300" dirty="0"/>
          </a:p>
        </p:txBody>
      </p:sp>
      <p:sp>
        <p:nvSpPr>
          <p:cNvPr id="26" name="Shape 24"/>
          <p:cNvSpPr/>
          <p:nvPr/>
        </p:nvSpPr>
        <p:spPr>
          <a:xfrm>
            <a:off x="548640" y="5340096"/>
            <a:ext cx="11091672" cy="822960"/>
          </a:xfrm>
          <a:prstGeom prst="roundRect">
            <a:avLst>
              <a:gd name="adj" fmla="val 8889"/>
            </a:avLst>
          </a:prstGeom>
          <a:solidFill>
            <a:srgbClr val="F4F4F6"/>
          </a:solidFill>
          <a:ln w="12700">
            <a:solidFill>
              <a:srgbClr val="E4E4EA"/>
            </a:solidFill>
            <a:prstDash val="solid"/>
          </a:ln>
          <a:effectLst>
            <a:outerShdw blurRad="101600" dist="25400" dir="5400000" algn="bl" rotWithShape="0">
              <a:srgbClr val="9AA0B5">
                <a:alpha val="25000"/>
              </a:srgbClr>
            </a:outerShdw>
          </a:effectLst>
        </p:spPr>
      </p:sp>
      <p:sp>
        <p:nvSpPr>
          <p:cNvPr id="27" name="Shape 25"/>
          <p:cNvSpPr/>
          <p:nvPr/>
        </p:nvSpPr>
        <p:spPr>
          <a:xfrm>
            <a:off x="822960" y="5541264"/>
            <a:ext cx="420624" cy="420624"/>
          </a:xfrm>
          <a:prstGeom prst="ellipse">
            <a:avLst/>
          </a:prstGeom>
          <a:solidFill>
            <a:srgbClr val="2F3C7E"/>
          </a:solidFill>
          <a:ln/>
        </p:spPr>
      </p:sp>
      <p:sp>
        <p:nvSpPr>
          <p:cNvPr id="28" name="Text 26"/>
          <p:cNvSpPr txBox="1"/>
          <p:nvPr/>
        </p:nvSpPr>
        <p:spPr>
          <a:xfrm>
            <a:off x="822960" y="554126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417320" y="5340096"/>
            <a:ext cx="2651760" cy="822960"/>
          </a:xfrm>
          <a:prstGeom prst="rect">
            <a:avLst/>
          </a:prstGeom>
          <a:noFill/>
          <a:ln/>
        </p:spPr>
        <p:txBody>
          <a:bodyPr wrap="square" lIns="0" tIns="0" rIns="0" bIns="0" rtlCol="0" anchor="ctr"/>
          <a:lstStyle/>
          <a:p>
            <a:pPr marL="0" indent="0">
              <a:buNone/>
            </a:pPr>
            <a:r>
              <a:rPr lang="en-US" sz="1500" b="1" dirty="0">
                <a:solidFill>
                  <a:srgbClr val="2F3C7E"/>
                </a:solidFill>
                <a:latin typeface="Cambria" pitchFamily="34" charset="0"/>
                <a:ea typeface="Cambria" pitchFamily="34" charset="-122"/>
                <a:cs typeface="Cambria" pitchFamily="34" charset="-120"/>
              </a:rPr>
              <a:t>Hand-calculated reports</a:t>
            </a:r>
            <a:endParaRPr lang="en-US" sz="1500" dirty="0"/>
          </a:p>
        </p:txBody>
      </p:sp>
      <p:sp>
        <p:nvSpPr>
          <p:cNvPr id="30" name="Text 28"/>
          <p:cNvSpPr txBox="1"/>
          <p:nvPr/>
        </p:nvSpPr>
        <p:spPr>
          <a:xfrm>
            <a:off x="4114800" y="5340096"/>
            <a:ext cx="7315200" cy="822960"/>
          </a:xfrm>
          <a:prstGeom prst="rect">
            <a:avLst/>
          </a:prstGeom>
          <a:noFill/>
          <a:ln/>
        </p:spPr>
        <p:txBody>
          <a:bodyPr wrap="square" lIns="0" tIns="0" rIns="0" bIns="0" rtlCol="0" anchor="ctr"/>
          <a:lstStyle/>
          <a:p>
            <a:pPr marL="0" indent="0">
              <a:buNone/>
            </a:pPr>
            <a:r>
              <a:rPr lang="en-US" sz="1300" dirty="0">
                <a:solidFill>
                  <a:srgbClr val="555566"/>
                </a:solidFill>
                <a:latin typeface="Calibri" pitchFamily="34" charset="0"/>
                <a:ea typeface="Calibri" pitchFamily="34" charset="-122"/>
                <a:cs typeface="Calibri" pitchFamily="34" charset="-120"/>
              </a:rPr>
              <a:t>Attendance percentages and defaulter lists are computed manually at term end.</a:t>
            </a:r>
            <a:endParaRPr lang="en-US" sz="1300" dirty="0"/>
          </a:p>
        </p:txBody>
      </p:sp>
      <p:sp>
        <p:nvSpPr>
          <p:cNvPr id="31" name="Text 29"/>
          <p:cNvSpPr txBox="1"/>
          <p:nvPr/>
        </p:nvSpPr>
        <p:spPr>
          <a:xfrm>
            <a:off x="548640" y="6355080"/>
            <a:ext cx="11091672" cy="320040"/>
          </a:xfrm>
          <a:prstGeom prst="rect">
            <a:avLst/>
          </a:prstGeom>
          <a:noFill/>
          <a:ln/>
        </p:spPr>
        <p:txBody>
          <a:bodyPr wrap="square" lIns="0" tIns="0" rIns="0" bIns="0" rtlCol="0" anchor="ctr"/>
          <a:lstStyle/>
          <a:p>
            <a:pPr marL="0" indent="0">
              <a:buNone/>
            </a:pPr>
            <a:r>
              <a:rPr lang="en-US" sz="1300" b="1" dirty="0">
                <a:solidFill>
                  <a:srgbClr val="990011"/>
                </a:solidFill>
                <a:latin typeface="Calibri" pitchFamily="34" charset="0"/>
                <a:ea typeface="Calibri" pitchFamily="34" charset="-122"/>
                <a:cs typeface="Calibri" pitchFamily="34" charset="-120"/>
              </a:rPr>
              <a:t>Net effect:  no identity proof  •  no central database  •  no instant reporting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20624"/>
            <a:ext cx="475488" cy="475488"/>
          </a:xfrm>
          <a:prstGeom prst="ellipse">
            <a:avLst/>
          </a:prstGeom>
          <a:solidFill>
            <a:srgbClr val="990011"/>
          </a:solidFill>
          <a:ln/>
        </p:spPr>
      </p:sp>
      <p:sp>
        <p:nvSpPr>
          <p:cNvPr id="3" name="Text 1"/>
          <p:cNvSpPr txBox="1"/>
          <p:nvPr/>
        </p:nvSpPr>
        <p:spPr>
          <a:xfrm>
            <a:off x="548640" y="42062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170432" y="384048"/>
            <a:ext cx="10424160" cy="548640"/>
          </a:xfrm>
          <a:prstGeom prst="rect">
            <a:avLst/>
          </a:prstGeom>
          <a:noFill/>
          <a:ln/>
        </p:spPr>
        <p:txBody>
          <a:bodyPr wrap="square" lIns="0" tIns="0" rIns="0" bIns="0" rtlCol="0" anchor="ctr"/>
          <a:lstStyle/>
          <a:p>
            <a:pPr marL="0" indent="0">
              <a:buNone/>
            </a:pPr>
            <a:r>
              <a:rPr lang="en-US" sz="3400" b="1" dirty="0">
                <a:solidFill>
                  <a:srgbClr val="2F3C7E"/>
                </a:solidFill>
                <a:latin typeface="Cambria" pitchFamily="34" charset="0"/>
                <a:ea typeface="Cambria" pitchFamily="34" charset="-122"/>
                <a:cs typeface="Cambria" pitchFamily="34" charset="-120"/>
              </a:rPr>
              <a:t>PROPOSED SYSTEM</a:t>
            </a:r>
            <a:endParaRPr lang="en-US" sz="3400" dirty="0"/>
          </a:p>
        </p:txBody>
      </p:sp>
      <p:sp>
        <p:nvSpPr>
          <p:cNvPr id="5" name="Text 3"/>
          <p:cNvSpPr txBox="1"/>
          <p:nvPr/>
        </p:nvSpPr>
        <p:spPr>
          <a:xfrm>
            <a:off x="548640" y="1097280"/>
            <a:ext cx="11091672" cy="320040"/>
          </a:xfrm>
          <a:prstGeom prst="rect">
            <a:avLst/>
          </a:prstGeom>
          <a:noFill/>
          <a:ln/>
        </p:spPr>
        <p:txBody>
          <a:bodyPr wrap="square" lIns="0" tIns="0" rIns="0" bIns="0" rtlCol="0" anchor="ctr"/>
          <a:lstStyle/>
          <a:p>
            <a:pPr marL="0" indent="0">
              <a:buNone/>
            </a:pPr>
            <a:r>
              <a:rPr lang="en-US" sz="1400" i="1" dirty="0">
                <a:solidFill>
                  <a:srgbClr val="555566"/>
                </a:solidFill>
                <a:latin typeface="Calibri" pitchFamily="34" charset="0"/>
                <a:ea typeface="Calibri" pitchFamily="34" charset="-122"/>
                <a:cs typeface="Calibri" pitchFamily="34" charset="-120"/>
              </a:rPr>
              <a:t>A database-driven application that verifies the student biometrically and logs attendance automatically.</a:t>
            </a:r>
            <a:endParaRPr lang="en-US" sz="1400" dirty="0"/>
          </a:p>
        </p:txBody>
      </p:sp>
      <p:sp>
        <p:nvSpPr>
          <p:cNvPr id="6" name="Shape 4"/>
          <p:cNvSpPr/>
          <p:nvPr/>
        </p:nvSpPr>
        <p:spPr>
          <a:xfrm>
            <a:off x="548640" y="1572768"/>
            <a:ext cx="3575304" cy="2212848"/>
          </a:xfrm>
          <a:prstGeom prst="roundRect">
            <a:avLst>
              <a:gd name="adj" fmla="val 3306"/>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7" name="Shape 5"/>
          <p:cNvSpPr/>
          <p:nvPr/>
        </p:nvSpPr>
        <p:spPr>
          <a:xfrm>
            <a:off x="841248" y="1847088"/>
            <a:ext cx="914400" cy="310896"/>
          </a:xfrm>
          <a:prstGeom prst="roundRect">
            <a:avLst>
              <a:gd name="adj" fmla="val 17647"/>
            </a:avLst>
          </a:prstGeom>
          <a:solidFill>
            <a:srgbClr val="2F3C7E"/>
          </a:solidFill>
          <a:ln/>
        </p:spPr>
      </p:sp>
      <p:sp>
        <p:nvSpPr>
          <p:cNvPr id="8" name="Text 6"/>
          <p:cNvSpPr txBox="1"/>
          <p:nvPr/>
        </p:nvSpPr>
        <p:spPr>
          <a:xfrm>
            <a:off x="841248" y="1847088"/>
            <a:ext cx="914400" cy="310896"/>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STEP 1</a:t>
            </a:r>
            <a:endParaRPr lang="en-US" sz="950" dirty="0"/>
          </a:p>
        </p:txBody>
      </p:sp>
      <p:sp>
        <p:nvSpPr>
          <p:cNvPr id="9" name="Text 7"/>
          <p:cNvSpPr txBox="1"/>
          <p:nvPr/>
        </p:nvSpPr>
        <p:spPr>
          <a:xfrm>
            <a:off x="841248" y="2286000"/>
            <a:ext cx="3017520" cy="411480"/>
          </a:xfrm>
          <a:prstGeom prst="rect">
            <a:avLst/>
          </a:prstGeom>
          <a:noFill/>
          <a:ln/>
        </p:spPr>
        <p:txBody>
          <a:bodyPr wrap="square" lIns="0" tIns="0" rIns="0" bIns="0" rtlCol="0" anchor="ctr"/>
          <a:lstStyle/>
          <a:p>
            <a:pPr marL="0" indent="0">
              <a:buNone/>
            </a:pPr>
            <a:r>
              <a:rPr lang="en-US" sz="1700" b="1" dirty="0">
                <a:solidFill>
                  <a:srgbClr val="990011"/>
                </a:solidFill>
                <a:latin typeface="Cambria" pitchFamily="34" charset="0"/>
                <a:ea typeface="Cambria" pitchFamily="34" charset="-122"/>
                <a:cs typeface="Cambria" pitchFamily="34" charset="-120"/>
              </a:rPr>
              <a:t>One-time registration</a:t>
            </a:r>
            <a:endParaRPr lang="en-US" sz="1700" dirty="0"/>
          </a:p>
        </p:txBody>
      </p:sp>
      <p:sp>
        <p:nvSpPr>
          <p:cNvPr id="10" name="Text 8"/>
          <p:cNvSpPr txBox="1"/>
          <p:nvPr/>
        </p:nvSpPr>
        <p:spPr>
          <a:xfrm>
            <a:off x="841248" y="2761488"/>
            <a:ext cx="3017520" cy="86868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Name, roll number, department, section and a face vector are enrolled into MySQL.</a:t>
            </a:r>
            <a:endParaRPr lang="en-US" sz="1250" dirty="0"/>
          </a:p>
        </p:txBody>
      </p:sp>
      <p:sp>
        <p:nvSpPr>
          <p:cNvPr id="11" name="Shape 9"/>
          <p:cNvSpPr/>
          <p:nvPr/>
        </p:nvSpPr>
        <p:spPr>
          <a:xfrm>
            <a:off x="4306824" y="1572768"/>
            <a:ext cx="3575304" cy="2212848"/>
          </a:xfrm>
          <a:prstGeom prst="roundRect">
            <a:avLst>
              <a:gd name="adj" fmla="val 3306"/>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12" name="Shape 10"/>
          <p:cNvSpPr/>
          <p:nvPr/>
        </p:nvSpPr>
        <p:spPr>
          <a:xfrm>
            <a:off x="4599432" y="1847088"/>
            <a:ext cx="914400" cy="310896"/>
          </a:xfrm>
          <a:prstGeom prst="roundRect">
            <a:avLst>
              <a:gd name="adj" fmla="val 17647"/>
            </a:avLst>
          </a:prstGeom>
          <a:solidFill>
            <a:srgbClr val="2F3C7E"/>
          </a:solidFill>
          <a:ln/>
        </p:spPr>
      </p:sp>
      <p:sp>
        <p:nvSpPr>
          <p:cNvPr id="13" name="Text 11"/>
          <p:cNvSpPr txBox="1"/>
          <p:nvPr/>
        </p:nvSpPr>
        <p:spPr>
          <a:xfrm>
            <a:off x="4599432" y="1847088"/>
            <a:ext cx="914400" cy="310896"/>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STEP 2</a:t>
            </a:r>
            <a:endParaRPr lang="en-US" sz="950" dirty="0"/>
          </a:p>
        </p:txBody>
      </p:sp>
      <p:sp>
        <p:nvSpPr>
          <p:cNvPr id="14" name="Text 12"/>
          <p:cNvSpPr txBox="1"/>
          <p:nvPr/>
        </p:nvSpPr>
        <p:spPr>
          <a:xfrm>
            <a:off x="4599432" y="2286000"/>
            <a:ext cx="3017520" cy="411480"/>
          </a:xfrm>
          <a:prstGeom prst="rect">
            <a:avLst/>
          </a:prstGeom>
          <a:noFill/>
          <a:ln/>
        </p:spPr>
        <p:txBody>
          <a:bodyPr wrap="square" lIns="0" tIns="0" rIns="0" bIns="0" rtlCol="0" anchor="ctr"/>
          <a:lstStyle/>
          <a:p>
            <a:pPr marL="0" indent="0">
              <a:buNone/>
            </a:pPr>
            <a:r>
              <a:rPr lang="en-US" sz="1700" b="1" dirty="0">
                <a:solidFill>
                  <a:srgbClr val="990011"/>
                </a:solidFill>
                <a:latin typeface="Cambria" pitchFamily="34" charset="0"/>
                <a:ea typeface="Cambria" pitchFamily="34" charset="-122"/>
                <a:cs typeface="Cambria" pitchFamily="34" charset="-120"/>
              </a:rPr>
              <a:t>Credential entry</a:t>
            </a:r>
            <a:endParaRPr lang="en-US" sz="1700" dirty="0"/>
          </a:p>
        </p:txBody>
      </p:sp>
      <p:sp>
        <p:nvSpPr>
          <p:cNvPr id="15" name="Text 13"/>
          <p:cNvSpPr txBox="1"/>
          <p:nvPr/>
        </p:nvSpPr>
        <p:spPr>
          <a:xfrm>
            <a:off x="4599432" y="2761488"/>
            <a:ext cx="3017520" cy="86868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The student selects department and section and enters their roll number on the web form.</a:t>
            </a:r>
            <a:endParaRPr lang="en-US" sz="1250" dirty="0"/>
          </a:p>
        </p:txBody>
      </p:sp>
      <p:sp>
        <p:nvSpPr>
          <p:cNvPr id="16" name="Shape 14"/>
          <p:cNvSpPr/>
          <p:nvPr/>
        </p:nvSpPr>
        <p:spPr>
          <a:xfrm>
            <a:off x="8065008" y="1572768"/>
            <a:ext cx="3575304" cy="2212848"/>
          </a:xfrm>
          <a:prstGeom prst="roundRect">
            <a:avLst>
              <a:gd name="adj" fmla="val 3306"/>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17" name="Shape 15"/>
          <p:cNvSpPr/>
          <p:nvPr/>
        </p:nvSpPr>
        <p:spPr>
          <a:xfrm>
            <a:off x="8357616" y="1847088"/>
            <a:ext cx="914400" cy="310896"/>
          </a:xfrm>
          <a:prstGeom prst="roundRect">
            <a:avLst>
              <a:gd name="adj" fmla="val 17647"/>
            </a:avLst>
          </a:prstGeom>
          <a:solidFill>
            <a:srgbClr val="2F3C7E"/>
          </a:solidFill>
          <a:ln/>
        </p:spPr>
      </p:sp>
      <p:sp>
        <p:nvSpPr>
          <p:cNvPr id="18" name="Text 16"/>
          <p:cNvSpPr txBox="1"/>
          <p:nvPr/>
        </p:nvSpPr>
        <p:spPr>
          <a:xfrm>
            <a:off x="8357616" y="1847088"/>
            <a:ext cx="914400" cy="310896"/>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STEP 3</a:t>
            </a:r>
            <a:endParaRPr lang="en-US" sz="950" dirty="0"/>
          </a:p>
        </p:txBody>
      </p:sp>
      <p:sp>
        <p:nvSpPr>
          <p:cNvPr id="19" name="Text 17"/>
          <p:cNvSpPr txBox="1"/>
          <p:nvPr/>
        </p:nvSpPr>
        <p:spPr>
          <a:xfrm>
            <a:off x="8357616" y="2286000"/>
            <a:ext cx="3017520" cy="411480"/>
          </a:xfrm>
          <a:prstGeom prst="rect">
            <a:avLst/>
          </a:prstGeom>
          <a:noFill/>
          <a:ln/>
        </p:spPr>
        <p:txBody>
          <a:bodyPr wrap="square" lIns="0" tIns="0" rIns="0" bIns="0" rtlCol="0" anchor="ctr"/>
          <a:lstStyle/>
          <a:p>
            <a:pPr marL="0" indent="0">
              <a:buNone/>
            </a:pPr>
            <a:r>
              <a:rPr lang="en-US" sz="1700" b="1" dirty="0">
                <a:solidFill>
                  <a:srgbClr val="990011"/>
                </a:solidFill>
                <a:latin typeface="Cambria" pitchFamily="34" charset="0"/>
                <a:ea typeface="Cambria" pitchFamily="34" charset="-122"/>
                <a:cs typeface="Cambria" pitchFamily="34" charset="-120"/>
              </a:rPr>
              <a:t>Live face capture</a:t>
            </a:r>
            <a:endParaRPr lang="en-US" sz="1700" dirty="0"/>
          </a:p>
        </p:txBody>
      </p:sp>
      <p:sp>
        <p:nvSpPr>
          <p:cNvPr id="20" name="Text 18"/>
          <p:cNvSpPr txBox="1"/>
          <p:nvPr/>
        </p:nvSpPr>
        <p:spPr>
          <a:xfrm>
            <a:off x="8357616" y="2761488"/>
            <a:ext cx="3017520" cy="86868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The webcam captures a frame and the vision module extracts the facial feature vector.</a:t>
            </a:r>
            <a:endParaRPr lang="en-US" sz="1250" dirty="0"/>
          </a:p>
        </p:txBody>
      </p:sp>
      <p:sp>
        <p:nvSpPr>
          <p:cNvPr id="21" name="Shape 19"/>
          <p:cNvSpPr/>
          <p:nvPr/>
        </p:nvSpPr>
        <p:spPr>
          <a:xfrm>
            <a:off x="548640" y="3968496"/>
            <a:ext cx="3575304" cy="2212848"/>
          </a:xfrm>
          <a:prstGeom prst="roundRect">
            <a:avLst>
              <a:gd name="adj" fmla="val 3306"/>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22" name="Shape 20"/>
          <p:cNvSpPr/>
          <p:nvPr/>
        </p:nvSpPr>
        <p:spPr>
          <a:xfrm>
            <a:off x="841248" y="4242816"/>
            <a:ext cx="914400" cy="310896"/>
          </a:xfrm>
          <a:prstGeom prst="roundRect">
            <a:avLst>
              <a:gd name="adj" fmla="val 17647"/>
            </a:avLst>
          </a:prstGeom>
          <a:solidFill>
            <a:srgbClr val="2F3C7E"/>
          </a:solidFill>
          <a:ln/>
        </p:spPr>
      </p:sp>
      <p:sp>
        <p:nvSpPr>
          <p:cNvPr id="23" name="Text 21"/>
          <p:cNvSpPr txBox="1"/>
          <p:nvPr/>
        </p:nvSpPr>
        <p:spPr>
          <a:xfrm>
            <a:off x="841248" y="4242816"/>
            <a:ext cx="914400" cy="310896"/>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STEP 4</a:t>
            </a:r>
            <a:endParaRPr lang="en-US" sz="950" dirty="0"/>
          </a:p>
        </p:txBody>
      </p:sp>
      <p:sp>
        <p:nvSpPr>
          <p:cNvPr id="24" name="Text 22"/>
          <p:cNvSpPr txBox="1"/>
          <p:nvPr/>
        </p:nvSpPr>
        <p:spPr>
          <a:xfrm>
            <a:off x="841248" y="4681728"/>
            <a:ext cx="3017520" cy="411480"/>
          </a:xfrm>
          <a:prstGeom prst="rect">
            <a:avLst/>
          </a:prstGeom>
          <a:noFill/>
          <a:ln/>
        </p:spPr>
        <p:txBody>
          <a:bodyPr wrap="square" lIns="0" tIns="0" rIns="0" bIns="0" rtlCol="0" anchor="ctr"/>
          <a:lstStyle/>
          <a:p>
            <a:pPr marL="0" indent="0">
              <a:buNone/>
            </a:pPr>
            <a:r>
              <a:rPr lang="en-US" sz="1700" b="1" dirty="0">
                <a:solidFill>
                  <a:srgbClr val="990011"/>
                </a:solidFill>
                <a:latin typeface="Cambria" pitchFamily="34" charset="0"/>
                <a:ea typeface="Cambria" pitchFamily="34" charset="-122"/>
                <a:cs typeface="Cambria" pitchFamily="34" charset="-120"/>
              </a:rPr>
              <a:t>Biometric matching</a:t>
            </a:r>
            <a:endParaRPr lang="en-US" sz="1700" dirty="0"/>
          </a:p>
        </p:txBody>
      </p:sp>
      <p:sp>
        <p:nvSpPr>
          <p:cNvPr id="25" name="Text 23"/>
          <p:cNvSpPr txBox="1"/>
          <p:nvPr/>
        </p:nvSpPr>
        <p:spPr>
          <a:xfrm>
            <a:off x="841248" y="5157216"/>
            <a:ext cx="3017520" cy="86868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The captured vector is compared against the vector stored for that roll number.</a:t>
            </a:r>
            <a:endParaRPr lang="en-US" sz="1250" dirty="0"/>
          </a:p>
        </p:txBody>
      </p:sp>
      <p:sp>
        <p:nvSpPr>
          <p:cNvPr id="26" name="Shape 24"/>
          <p:cNvSpPr/>
          <p:nvPr/>
        </p:nvSpPr>
        <p:spPr>
          <a:xfrm>
            <a:off x="4306824" y="3968496"/>
            <a:ext cx="3575304" cy="2212848"/>
          </a:xfrm>
          <a:prstGeom prst="roundRect">
            <a:avLst>
              <a:gd name="adj" fmla="val 3306"/>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27" name="Shape 25"/>
          <p:cNvSpPr/>
          <p:nvPr/>
        </p:nvSpPr>
        <p:spPr>
          <a:xfrm>
            <a:off x="4599432" y="4242816"/>
            <a:ext cx="914400" cy="310896"/>
          </a:xfrm>
          <a:prstGeom prst="roundRect">
            <a:avLst>
              <a:gd name="adj" fmla="val 17647"/>
            </a:avLst>
          </a:prstGeom>
          <a:solidFill>
            <a:srgbClr val="2F3C7E"/>
          </a:solidFill>
          <a:ln/>
        </p:spPr>
      </p:sp>
      <p:sp>
        <p:nvSpPr>
          <p:cNvPr id="28" name="Text 26"/>
          <p:cNvSpPr txBox="1"/>
          <p:nvPr/>
        </p:nvSpPr>
        <p:spPr>
          <a:xfrm>
            <a:off x="4599432" y="4242816"/>
            <a:ext cx="914400" cy="310896"/>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STEP 5</a:t>
            </a:r>
            <a:endParaRPr lang="en-US" sz="950" dirty="0"/>
          </a:p>
        </p:txBody>
      </p:sp>
      <p:sp>
        <p:nvSpPr>
          <p:cNvPr id="29" name="Text 27"/>
          <p:cNvSpPr txBox="1"/>
          <p:nvPr/>
        </p:nvSpPr>
        <p:spPr>
          <a:xfrm>
            <a:off x="4599432" y="4681728"/>
            <a:ext cx="3017520" cy="411480"/>
          </a:xfrm>
          <a:prstGeom prst="rect">
            <a:avLst/>
          </a:prstGeom>
          <a:noFill/>
          <a:ln/>
        </p:spPr>
        <p:txBody>
          <a:bodyPr wrap="square" lIns="0" tIns="0" rIns="0" bIns="0" rtlCol="0" anchor="ctr"/>
          <a:lstStyle/>
          <a:p>
            <a:pPr marL="0" indent="0">
              <a:buNone/>
            </a:pPr>
            <a:r>
              <a:rPr lang="en-US" sz="1700" b="1" dirty="0">
                <a:solidFill>
                  <a:srgbClr val="990011"/>
                </a:solidFill>
                <a:latin typeface="Cambria" pitchFamily="34" charset="0"/>
                <a:ea typeface="Cambria" pitchFamily="34" charset="-122"/>
                <a:cs typeface="Cambria" pitchFamily="34" charset="-120"/>
              </a:rPr>
              <a:t>Automatic logging</a:t>
            </a:r>
            <a:endParaRPr lang="en-US" sz="1700" dirty="0"/>
          </a:p>
        </p:txBody>
      </p:sp>
      <p:sp>
        <p:nvSpPr>
          <p:cNvPr id="30" name="Text 28"/>
          <p:cNvSpPr txBox="1"/>
          <p:nvPr/>
        </p:nvSpPr>
        <p:spPr>
          <a:xfrm>
            <a:off x="4599432" y="5157216"/>
            <a:ext cx="3017520" cy="86868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On a match, a timestamped row is inserted into the attendance log and confirmed on screen.</a:t>
            </a:r>
            <a:endParaRPr lang="en-US" sz="1250" dirty="0"/>
          </a:p>
        </p:txBody>
      </p:sp>
      <p:sp>
        <p:nvSpPr>
          <p:cNvPr id="31" name="Shape 29"/>
          <p:cNvSpPr/>
          <p:nvPr/>
        </p:nvSpPr>
        <p:spPr>
          <a:xfrm>
            <a:off x="8065008" y="3968496"/>
            <a:ext cx="3575304" cy="2212848"/>
          </a:xfrm>
          <a:prstGeom prst="roundRect">
            <a:avLst>
              <a:gd name="adj" fmla="val 3306"/>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32" name="Shape 30"/>
          <p:cNvSpPr/>
          <p:nvPr/>
        </p:nvSpPr>
        <p:spPr>
          <a:xfrm>
            <a:off x="8357616" y="4242816"/>
            <a:ext cx="914400" cy="310896"/>
          </a:xfrm>
          <a:prstGeom prst="roundRect">
            <a:avLst>
              <a:gd name="adj" fmla="val 17647"/>
            </a:avLst>
          </a:prstGeom>
          <a:solidFill>
            <a:srgbClr val="2F3C7E"/>
          </a:solidFill>
          <a:ln/>
        </p:spPr>
      </p:sp>
      <p:sp>
        <p:nvSpPr>
          <p:cNvPr id="33" name="Text 31"/>
          <p:cNvSpPr txBox="1"/>
          <p:nvPr/>
        </p:nvSpPr>
        <p:spPr>
          <a:xfrm>
            <a:off x="8357616" y="4242816"/>
            <a:ext cx="914400" cy="310896"/>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STEP 6</a:t>
            </a:r>
            <a:endParaRPr lang="en-US" sz="950" dirty="0"/>
          </a:p>
        </p:txBody>
      </p:sp>
      <p:sp>
        <p:nvSpPr>
          <p:cNvPr id="34" name="Text 32"/>
          <p:cNvSpPr txBox="1"/>
          <p:nvPr/>
        </p:nvSpPr>
        <p:spPr>
          <a:xfrm>
            <a:off x="8357616" y="4681728"/>
            <a:ext cx="3017520" cy="411480"/>
          </a:xfrm>
          <a:prstGeom prst="rect">
            <a:avLst/>
          </a:prstGeom>
          <a:noFill/>
          <a:ln/>
        </p:spPr>
        <p:txBody>
          <a:bodyPr wrap="square" lIns="0" tIns="0" rIns="0" bIns="0" rtlCol="0" anchor="ctr"/>
          <a:lstStyle/>
          <a:p>
            <a:pPr marL="0" indent="0">
              <a:buNone/>
            </a:pPr>
            <a:r>
              <a:rPr lang="en-US" sz="1700" b="1" dirty="0">
                <a:solidFill>
                  <a:srgbClr val="990011"/>
                </a:solidFill>
                <a:latin typeface="Cambria" pitchFamily="34" charset="0"/>
                <a:ea typeface="Cambria" pitchFamily="34" charset="-122"/>
                <a:cs typeface="Cambria" pitchFamily="34" charset="-120"/>
              </a:rPr>
              <a:t>Instant reporting</a:t>
            </a:r>
            <a:endParaRPr lang="en-US" sz="1700" dirty="0"/>
          </a:p>
        </p:txBody>
      </p:sp>
      <p:sp>
        <p:nvSpPr>
          <p:cNvPr id="35" name="Text 33"/>
          <p:cNvSpPr txBox="1"/>
          <p:nvPr/>
        </p:nvSpPr>
        <p:spPr>
          <a:xfrm>
            <a:off x="8357616" y="5157216"/>
            <a:ext cx="3017520" cy="868680"/>
          </a:xfrm>
          <a:prstGeom prst="rect">
            <a:avLst/>
          </a:prstGeom>
          <a:noFill/>
          <a:ln/>
        </p:spPr>
        <p:txBody>
          <a:bodyPr wrap="square" lIns="0" tIns="0" rIns="0" bIns="0" rtlCol="0" anchor="ctr"/>
          <a:lstStyle/>
          <a:p>
            <a:pPr marL="0" indent="0">
              <a:lnSpc>
                <a:spcPct val="120000"/>
              </a:lnSpc>
              <a:buNone/>
            </a:pPr>
            <a:r>
              <a:rPr lang="en-US" sz="1250" dirty="0">
                <a:solidFill>
                  <a:srgbClr val="555566"/>
                </a:solidFill>
                <a:latin typeface="Calibri" pitchFamily="34" charset="0"/>
                <a:ea typeface="Calibri" pitchFamily="34" charset="-122"/>
                <a:cs typeface="Calibri" pitchFamily="34" charset="-120"/>
              </a:rPr>
              <a:t>Percentages, defaulter lists and date-wise reports come from simple SQL queries.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20624"/>
            <a:ext cx="475488" cy="475488"/>
          </a:xfrm>
          <a:prstGeom prst="ellipse">
            <a:avLst/>
          </a:prstGeom>
          <a:solidFill>
            <a:srgbClr val="990011"/>
          </a:solidFill>
          <a:ln/>
        </p:spPr>
      </p:sp>
      <p:sp>
        <p:nvSpPr>
          <p:cNvPr id="3" name="Text 1"/>
          <p:cNvSpPr txBox="1"/>
          <p:nvPr/>
        </p:nvSpPr>
        <p:spPr>
          <a:xfrm>
            <a:off x="548640" y="42062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170432" y="384048"/>
            <a:ext cx="10424160" cy="548640"/>
          </a:xfrm>
          <a:prstGeom prst="rect">
            <a:avLst/>
          </a:prstGeom>
          <a:noFill/>
          <a:ln/>
        </p:spPr>
        <p:txBody>
          <a:bodyPr wrap="square" lIns="0" tIns="0" rIns="0" bIns="0" rtlCol="0" anchor="ctr"/>
          <a:lstStyle/>
          <a:p>
            <a:pPr marL="0" indent="0">
              <a:buNone/>
            </a:pPr>
            <a:r>
              <a:rPr lang="en-US" sz="3400" b="1" dirty="0">
                <a:solidFill>
                  <a:srgbClr val="2F3C7E"/>
                </a:solidFill>
                <a:latin typeface="Cambria" pitchFamily="34" charset="0"/>
                <a:ea typeface="Cambria" pitchFamily="34" charset="-122"/>
                <a:cs typeface="Cambria" pitchFamily="34" charset="-120"/>
              </a:rPr>
              <a:t>OBJECTIVES</a:t>
            </a:r>
            <a:endParaRPr lang="en-US" sz="3400" dirty="0"/>
          </a:p>
        </p:txBody>
      </p:sp>
      <p:sp>
        <p:nvSpPr>
          <p:cNvPr id="5" name="Shape 3"/>
          <p:cNvSpPr/>
          <p:nvPr/>
        </p:nvSpPr>
        <p:spPr>
          <a:xfrm>
            <a:off x="548640" y="1280160"/>
            <a:ext cx="5440680" cy="1481328"/>
          </a:xfrm>
          <a:prstGeom prst="roundRect">
            <a:avLst>
              <a:gd name="adj" fmla="val 4938"/>
            </a:avLst>
          </a:prstGeom>
          <a:solidFill>
            <a:srgbClr val="EDEFF7"/>
          </a:solidFill>
          <a:ln w="12700">
            <a:solidFill>
              <a:srgbClr val="D2D8EC"/>
            </a:solidFill>
            <a:prstDash val="solid"/>
          </a:ln>
          <a:effectLst>
            <a:outerShdw blurRad="101600" dist="25400" dir="5400000" algn="bl" rotWithShape="0">
              <a:srgbClr val="9AA0B5">
                <a:alpha val="25000"/>
              </a:srgbClr>
            </a:outerShdw>
          </a:effectLst>
        </p:spPr>
      </p:sp>
      <p:sp>
        <p:nvSpPr>
          <p:cNvPr id="6" name="Shape 4"/>
          <p:cNvSpPr/>
          <p:nvPr/>
        </p:nvSpPr>
        <p:spPr>
          <a:xfrm>
            <a:off x="822960" y="1783080"/>
            <a:ext cx="502920" cy="502920"/>
          </a:xfrm>
          <a:prstGeom prst="ellipse">
            <a:avLst/>
          </a:prstGeom>
          <a:solidFill>
            <a:srgbClr val="2F3C7E"/>
          </a:solidFill>
          <a:ln/>
        </p:spPr>
      </p:sp>
      <p:sp>
        <p:nvSpPr>
          <p:cNvPr id="7" name="Text 5"/>
          <p:cNvSpPr txBox="1"/>
          <p:nvPr/>
        </p:nvSpPr>
        <p:spPr>
          <a:xfrm>
            <a:off x="822960" y="17830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txBox="1"/>
          <p:nvPr/>
        </p:nvSpPr>
        <p:spPr>
          <a:xfrm>
            <a:off x="1508760" y="1536192"/>
            <a:ext cx="4206240" cy="384048"/>
          </a:xfrm>
          <a:prstGeom prst="rect">
            <a:avLst/>
          </a:prstGeom>
          <a:noFill/>
          <a:ln/>
        </p:spPr>
        <p:txBody>
          <a:bodyPr wrap="square" lIns="0" tIns="0" rIns="0" bIns="0"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Eliminate proxy attendance</a:t>
            </a:r>
            <a:endParaRPr lang="en-US" sz="1700" dirty="0"/>
          </a:p>
        </p:txBody>
      </p:sp>
      <p:sp>
        <p:nvSpPr>
          <p:cNvPr id="9" name="Text 7"/>
          <p:cNvSpPr txBox="1"/>
          <p:nvPr/>
        </p:nvSpPr>
        <p:spPr>
          <a:xfrm>
            <a:off x="1508760" y="1956816"/>
            <a:ext cx="4206240" cy="685800"/>
          </a:xfrm>
          <a:prstGeom prst="rect">
            <a:avLst/>
          </a:prstGeom>
          <a:noFill/>
          <a:ln/>
        </p:spPr>
        <p:txBody>
          <a:bodyPr wrap="square" lIns="0" tIns="0" rIns="0" bIns="0" rtlCol="0" anchor="ctr"/>
          <a:lstStyle/>
          <a:p>
            <a:pPr marL="0" indent="0">
              <a:lnSpc>
                <a:spcPct val="118000"/>
              </a:lnSpc>
              <a:buNone/>
            </a:pPr>
            <a:r>
              <a:rPr lang="en-US" sz="1250" dirty="0">
                <a:solidFill>
                  <a:srgbClr val="555566"/>
                </a:solidFill>
                <a:latin typeface="Calibri" pitchFamily="34" charset="0"/>
                <a:ea typeface="Calibri" pitchFamily="34" charset="-122"/>
                <a:cs typeface="Calibri" pitchFamily="34" charset="-120"/>
              </a:rPr>
              <a:t>Bind every attendance record to a biometric match so presence cannot be delegated.</a:t>
            </a:r>
            <a:endParaRPr lang="en-US" sz="1250" dirty="0"/>
          </a:p>
        </p:txBody>
      </p:sp>
      <p:sp>
        <p:nvSpPr>
          <p:cNvPr id="10" name="Shape 8"/>
          <p:cNvSpPr/>
          <p:nvPr/>
        </p:nvSpPr>
        <p:spPr>
          <a:xfrm>
            <a:off x="6199632" y="1280160"/>
            <a:ext cx="5440680" cy="1481328"/>
          </a:xfrm>
          <a:prstGeom prst="roundRect">
            <a:avLst>
              <a:gd name="adj" fmla="val 4938"/>
            </a:avLst>
          </a:prstGeom>
          <a:solidFill>
            <a:srgbClr val="FBEAEC"/>
          </a:solidFill>
          <a:ln w="12700">
            <a:solidFill>
              <a:srgbClr val="F0D4D8"/>
            </a:solidFill>
            <a:prstDash val="solid"/>
          </a:ln>
          <a:effectLst>
            <a:outerShdw blurRad="101600" dist="25400" dir="5400000" algn="bl" rotWithShape="0">
              <a:srgbClr val="9AA0B5">
                <a:alpha val="25000"/>
              </a:srgbClr>
            </a:outerShdw>
          </a:effectLst>
        </p:spPr>
      </p:sp>
      <p:sp>
        <p:nvSpPr>
          <p:cNvPr id="11" name="Shape 9"/>
          <p:cNvSpPr/>
          <p:nvPr/>
        </p:nvSpPr>
        <p:spPr>
          <a:xfrm>
            <a:off x="6473952" y="1783080"/>
            <a:ext cx="502920" cy="502920"/>
          </a:xfrm>
          <a:prstGeom prst="ellipse">
            <a:avLst/>
          </a:prstGeom>
          <a:solidFill>
            <a:srgbClr val="990011"/>
          </a:solidFill>
          <a:ln/>
        </p:spPr>
      </p:sp>
      <p:sp>
        <p:nvSpPr>
          <p:cNvPr id="12" name="Text 10"/>
          <p:cNvSpPr txBox="1"/>
          <p:nvPr/>
        </p:nvSpPr>
        <p:spPr>
          <a:xfrm>
            <a:off x="6473952" y="17830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txBox="1"/>
          <p:nvPr/>
        </p:nvSpPr>
        <p:spPr>
          <a:xfrm>
            <a:off x="7159752" y="1536192"/>
            <a:ext cx="4206240" cy="384048"/>
          </a:xfrm>
          <a:prstGeom prst="rect">
            <a:avLst/>
          </a:prstGeom>
          <a:noFill/>
          <a:ln/>
        </p:spPr>
        <p:txBody>
          <a:bodyPr wrap="square" lIns="0" tIns="0" rIns="0" bIns="0"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Automate the marking process</a:t>
            </a:r>
            <a:endParaRPr lang="en-US" sz="1700" dirty="0"/>
          </a:p>
        </p:txBody>
      </p:sp>
      <p:sp>
        <p:nvSpPr>
          <p:cNvPr id="14" name="Text 12"/>
          <p:cNvSpPr txBox="1"/>
          <p:nvPr/>
        </p:nvSpPr>
        <p:spPr>
          <a:xfrm>
            <a:off x="7159752" y="1956816"/>
            <a:ext cx="4206240" cy="685800"/>
          </a:xfrm>
          <a:prstGeom prst="rect">
            <a:avLst/>
          </a:prstGeom>
          <a:noFill/>
          <a:ln/>
        </p:spPr>
        <p:txBody>
          <a:bodyPr wrap="square" lIns="0" tIns="0" rIns="0" bIns="0" rtlCol="0" anchor="ctr"/>
          <a:lstStyle/>
          <a:p>
            <a:pPr marL="0" indent="0">
              <a:lnSpc>
                <a:spcPct val="118000"/>
              </a:lnSpc>
              <a:buNone/>
            </a:pPr>
            <a:r>
              <a:rPr lang="en-US" sz="1250" dirty="0">
                <a:solidFill>
                  <a:srgbClr val="555566"/>
                </a:solidFill>
                <a:latin typeface="Calibri" pitchFamily="34" charset="0"/>
                <a:ea typeface="Calibri" pitchFamily="34" charset="-122"/>
                <a:cs typeface="Calibri" pitchFamily="34" charset="-120"/>
              </a:rPr>
              <a:t>Remove manual roll call and the transcription step that follows it.</a:t>
            </a:r>
            <a:endParaRPr lang="en-US" sz="1250" dirty="0"/>
          </a:p>
        </p:txBody>
      </p:sp>
      <p:sp>
        <p:nvSpPr>
          <p:cNvPr id="15" name="Shape 13"/>
          <p:cNvSpPr/>
          <p:nvPr/>
        </p:nvSpPr>
        <p:spPr>
          <a:xfrm>
            <a:off x="548640" y="2944368"/>
            <a:ext cx="5440680" cy="1481328"/>
          </a:xfrm>
          <a:prstGeom prst="roundRect">
            <a:avLst>
              <a:gd name="adj" fmla="val 4938"/>
            </a:avLst>
          </a:prstGeom>
          <a:solidFill>
            <a:srgbClr val="EDEFF7"/>
          </a:solidFill>
          <a:ln w="12700">
            <a:solidFill>
              <a:srgbClr val="D2D8EC"/>
            </a:solidFill>
            <a:prstDash val="solid"/>
          </a:ln>
          <a:effectLst>
            <a:outerShdw blurRad="101600" dist="25400" dir="5400000" algn="bl" rotWithShape="0">
              <a:srgbClr val="9AA0B5">
                <a:alpha val="25000"/>
              </a:srgbClr>
            </a:outerShdw>
          </a:effectLst>
        </p:spPr>
      </p:sp>
      <p:sp>
        <p:nvSpPr>
          <p:cNvPr id="16" name="Shape 14"/>
          <p:cNvSpPr/>
          <p:nvPr/>
        </p:nvSpPr>
        <p:spPr>
          <a:xfrm>
            <a:off x="822960" y="3447288"/>
            <a:ext cx="502920" cy="502920"/>
          </a:xfrm>
          <a:prstGeom prst="ellipse">
            <a:avLst/>
          </a:prstGeom>
          <a:solidFill>
            <a:srgbClr val="2F3C7E"/>
          </a:solidFill>
          <a:ln/>
        </p:spPr>
      </p:sp>
      <p:sp>
        <p:nvSpPr>
          <p:cNvPr id="17" name="Text 15"/>
          <p:cNvSpPr txBox="1"/>
          <p:nvPr/>
        </p:nvSpPr>
        <p:spPr>
          <a:xfrm>
            <a:off x="822960" y="344728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8" name="Text 16"/>
          <p:cNvSpPr txBox="1"/>
          <p:nvPr/>
        </p:nvSpPr>
        <p:spPr>
          <a:xfrm>
            <a:off x="1508760" y="3200400"/>
            <a:ext cx="4206240" cy="384048"/>
          </a:xfrm>
          <a:prstGeom prst="rect">
            <a:avLst/>
          </a:prstGeom>
          <a:noFill/>
          <a:ln/>
        </p:spPr>
        <p:txBody>
          <a:bodyPr wrap="square" lIns="0" tIns="0" rIns="0" bIns="0"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Design a normalised schema</a:t>
            </a:r>
            <a:endParaRPr lang="en-US" sz="1700" dirty="0"/>
          </a:p>
        </p:txBody>
      </p:sp>
      <p:sp>
        <p:nvSpPr>
          <p:cNvPr id="19" name="Text 17"/>
          <p:cNvSpPr txBox="1"/>
          <p:nvPr/>
        </p:nvSpPr>
        <p:spPr>
          <a:xfrm>
            <a:off x="1508760" y="3621024"/>
            <a:ext cx="4206240" cy="685800"/>
          </a:xfrm>
          <a:prstGeom prst="rect">
            <a:avLst/>
          </a:prstGeom>
          <a:noFill/>
          <a:ln/>
        </p:spPr>
        <p:txBody>
          <a:bodyPr wrap="square" lIns="0" tIns="0" rIns="0" bIns="0" rtlCol="0" anchor="ctr"/>
          <a:lstStyle/>
          <a:p>
            <a:pPr marL="0" indent="0">
              <a:lnSpc>
                <a:spcPct val="118000"/>
              </a:lnSpc>
              <a:buNone/>
            </a:pPr>
            <a:r>
              <a:rPr lang="en-US" sz="1250" dirty="0">
                <a:solidFill>
                  <a:srgbClr val="555566"/>
                </a:solidFill>
                <a:latin typeface="Calibri" pitchFamily="34" charset="0"/>
                <a:ea typeface="Calibri" pitchFamily="34" charset="-122"/>
                <a:cs typeface="Calibri" pitchFamily="34" charset="-120"/>
              </a:rPr>
              <a:t>Model students, face vectors and attendance logs as related tables with proper keys.</a:t>
            </a:r>
            <a:endParaRPr lang="en-US" sz="1250" dirty="0"/>
          </a:p>
        </p:txBody>
      </p:sp>
      <p:sp>
        <p:nvSpPr>
          <p:cNvPr id="20" name="Shape 18"/>
          <p:cNvSpPr/>
          <p:nvPr/>
        </p:nvSpPr>
        <p:spPr>
          <a:xfrm>
            <a:off x="6199632" y="2944368"/>
            <a:ext cx="5440680" cy="1481328"/>
          </a:xfrm>
          <a:prstGeom prst="roundRect">
            <a:avLst>
              <a:gd name="adj" fmla="val 4938"/>
            </a:avLst>
          </a:prstGeom>
          <a:solidFill>
            <a:srgbClr val="FBEAEC"/>
          </a:solidFill>
          <a:ln w="12700">
            <a:solidFill>
              <a:srgbClr val="F0D4D8"/>
            </a:solidFill>
            <a:prstDash val="solid"/>
          </a:ln>
          <a:effectLst>
            <a:outerShdw blurRad="101600" dist="25400" dir="5400000" algn="bl" rotWithShape="0">
              <a:srgbClr val="9AA0B5">
                <a:alpha val="25000"/>
              </a:srgbClr>
            </a:outerShdw>
          </a:effectLst>
        </p:spPr>
      </p:sp>
      <p:sp>
        <p:nvSpPr>
          <p:cNvPr id="21" name="Shape 19"/>
          <p:cNvSpPr/>
          <p:nvPr/>
        </p:nvSpPr>
        <p:spPr>
          <a:xfrm>
            <a:off x="6473952" y="3447288"/>
            <a:ext cx="502920" cy="502920"/>
          </a:xfrm>
          <a:prstGeom prst="ellipse">
            <a:avLst/>
          </a:prstGeom>
          <a:solidFill>
            <a:srgbClr val="990011"/>
          </a:solidFill>
          <a:ln/>
        </p:spPr>
      </p:sp>
      <p:sp>
        <p:nvSpPr>
          <p:cNvPr id="22" name="Text 20"/>
          <p:cNvSpPr txBox="1"/>
          <p:nvPr/>
        </p:nvSpPr>
        <p:spPr>
          <a:xfrm>
            <a:off x="6473952" y="344728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3" name="Text 21"/>
          <p:cNvSpPr txBox="1"/>
          <p:nvPr/>
        </p:nvSpPr>
        <p:spPr>
          <a:xfrm>
            <a:off x="7159752" y="3200400"/>
            <a:ext cx="4206240" cy="384048"/>
          </a:xfrm>
          <a:prstGeom prst="rect">
            <a:avLst/>
          </a:prstGeom>
          <a:noFill/>
          <a:ln/>
        </p:spPr>
        <p:txBody>
          <a:bodyPr wrap="square" lIns="0" tIns="0" rIns="0" bIns="0"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Centralise the records</a:t>
            </a:r>
            <a:endParaRPr lang="en-US" sz="1700" dirty="0"/>
          </a:p>
        </p:txBody>
      </p:sp>
      <p:sp>
        <p:nvSpPr>
          <p:cNvPr id="24" name="Text 22"/>
          <p:cNvSpPr txBox="1"/>
          <p:nvPr/>
        </p:nvSpPr>
        <p:spPr>
          <a:xfrm>
            <a:off x="7159752" y="3621024"/>
            <a:ext cx="4206240" cy="685800"/>
          </a:xfrm>
          <a:prstGeom prst="rect">
            <a:avLst/>
          </a:prstGeom>
          <a:noFill/>
          <a:ln/>
        </p:spPr>
        <p:txBody>
          <a:bodyPr wrap="square" lIns="0" tIns="0" rIns="0" bIns="0" rtlCol="0" anchor="ctr"/>
          <a:lstStyle/>
          <a:p>
            <a:pPr marL="0" indent="0">
              <a:lnSpc>
                <a:spcPct val="118000"/>
              </a:lnSpc>
              <a:buNone/>
            </a:pPr>
            <a:r>
              <a:rPr lang="en-US" sz="1250" dirty="0">
                <a:solidFill>
                  <a:srgbClr val="555566"/>
                </a:solidFill>
                <a:latin typeface="Calibri" pitchFamily="34" charset="0"/>
                <a:ea typeface="Calibri" pitchFamily="34" charset="-122"/>
                <a:cs typeface="Calibri" pitchFamily="34" charset="-120"/>
              </a:rPr>
              <a:t>Keep one authoritative MySQL store accessible to all faculty and administrators.</a:t>
            </a:r>
            <a:endParaRPr lang="en-US" sz="1250" dirty="0"/>
          </a:p>
        </p:txBody>
      </p:sp>
      <p:sp>
        <p:nvSpPr>
          <p:cNvPr id="25" name="Shape 23"/>
          <p:cNvSpPr/>
          <p:nvPr/>
        </p:nvSpPr>
        <p:spPr>
          <a:xfrm>
            <a:off x="548640" y="4608576"/>
            <a:ext cx="5440680" cy="1481328"/>
          </a:xfrm>
          <a:prstGeom prst="roundRect">
            <a:avLst>
              <a:gd name="adj" fmla="val 4938"/>
            </a:avLst>
          </a:prstGeom>
          <a:solidFill>
            <a:srgbClr val="EDEFF7"/>
          </a:solidFill>
          <a:ln w="12700">
            <a:solidFill>
              <a:srgbClr val="D2D8EC"/>
            </a:solidFill>
            <a:prstDash val="solid"/>
          </a:ln>
          <a:effectLst>
            <a:outerShdw blurRad="101600" dist="25400" dir="5400000" algn="bl" rotWithShape="0">
              <a:srgbClr val="9AA0B5">
                <a:alpha val="25000"/>
              </a:srgbClr>
            </a:outerShdw>
          </a:effectLst>
        </p:spPr>
      </p:sp>
      <p:sp>
        <p:nvSpPr>
          <p:cNvPr id="26" name="Shape 24"/>
          <p:cNvSpPr/>
          <p:nvPr/>
        </p:nvSpPr>
        <p:spPr>
          <a:xfrm>
            <a:off x="822960" y="5111496"/>
            <a:ext cx="502920" cy="502920"/>
          </a:xfrm>
          <a:prstGeom prst="ellipse">
            <a:avLst/>
          </a:prstGeom>
          <a:solidFill>
            <a:srgbClr val="2F3C7E"/>
          </a:solidFill>
          <a:ln/>
        </p:spPr>
      </p:sp>
      <p:sp>
        <p:nvSpPr>
          <p:cNvPr id="27" name="Text 25"/>
          <p:cNvSpPr txBox="1"/>
          <p:nvPr/>
        </p:nvSpPr>
        <p:spPr>
          <a:xfrm>
            <a:off x="822960" y="5111496"/>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8" name="Text 26"/>
          <p:cNvSpPr txBox="1"/>
          <p:nvPr/>
        </p:nvSpPr>
        <p:spPr>
          <a:xfrm>
            <a:off x="1508760" y="4864608"/>
            <a:ext cx="4206240" cy="384048"/>
          </a:xfrm>
          <a:prstGeom prst="rect">
            <a:avLst/>
          </a:prstGeom>
          <a:noFill/>
          <a:ln/>
        </p:spPr>
        <p:txBody>
          <a:bodyPr wrap="square" lIns="0" tIns="0" rIns="0" bIns="0"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Enable instant retrieval</a:t>
            </a:r>
            <a:endParaRPr lang="en-US" sz="1700" dirty="0"/>
          </a:p>
        </p:txBody>
      </p:sp>
      <p:sp>
        <p:nvSpPr>
          <p:cNvPr id="29" name="Text 27"/>
          <p:cNvSpPr txBox="1"/>
          <p:nvPr/>
        </p:nvSpPr>
        <p:spPr>
          <a:xfrm>
            <a:off x="1508760" y="5285232"/>
            <a:ext cx="4206240" cy="685800"/>
          </a:xfrm>
          <a:prstGeom prst="rect">
            <a:avLst/>
          </a:prstGeom>
          <a:noFill/>
          <a:ln/>
        </p:spPr>
        <p:txBody>
          <a:bodyPr wrap="square" lIns="0" tIns="0" rIns="0" bIns="0" rtlCol="0" anchor="ctr"/>
          <a:lstStyle/>
          <a:p>
            <a:pPr marL="0" indent="0">
              <a:lnSpc>
                <a:spcPct val="118000"/>
              </a:lnSpc>
              <a:buNone/>
            </a:pPr>
            <a:r>
              <a:rPr lang="en-US" sz="1250" dirty="0">
                <a:solidFill>
                  <a:srgbClr val="555566"/>
                </a:solidFill>
                <a:latin typeface="Calibri" pitchFamily="34" charset="0"/>
                <a:ea typeface="Calibri" pitchFamily="34" charset="-122"/>
                <a:cs typeface="Calibri" pitchFamily="34" charset="-120"/>
              </a:rPr>
              <a:t>Support date-wise, subject-wise and student-wise queries with automatic percentage calculation.</a:t>
            </a:r>
            <a:endParaRPr lang="en-US" sz="1250" dirty="0"/>
          </a:p>
        </p:txBody>
      </p:sp>
      <p:sp>
        <p:nvSpPr>
          <p:cNvPr id="30" name="Shape 28"/>
          <p:cNvSpPr/>
          <p:nvPr/>
        </p:nvSpPr>
        <p:spPr>
          <a:xfrm>
            <a:off x="6199632" y="4608576"/>
            <a:ext cx="5440680" cy="1481328"/>
          </a:xfrm>
          <a:prstGeom prst="roundRect">
            <a:avLst>
              <a:gd name="adj" fmla="val 4938"/>
            </a:avLst>
          </a:prstGeom>
          <a:solidFill>
            <a:srgbClr val="FBEAEC"/>
          </a:solidFill>
          <a:ln w="12700">
            <a:solidFill>
              <a:srgbClr val="F0D4D8"/>
            </a:solidFill>
            <a:prstDash val="solid"/>
          </a:ln>
          <a:effectLst>
            <a:outerShdw blurRad="101600" dist="25400" dir="5400000" algn="bl" rotWithShape="0">
              <a:srgbClr val="9AA0B5">
                <a:alpha val="25000"/>
              </a:srgbClr>
            </a:outerShdw>
          </a:effectLst>
        </p:spPr>
      </p:sp>
      <p:sp>
        <p:nvSpPr>
          <p:cNvPr id="31" name="Shape 29"/>
          <p:cNvSpPr/>
          <p:nvPr/>
        </p:nvSpPr>
        <p:spPr>
          <a:xfrm>
            <a:off x="6473952" y="5111496"/>
            <a:ext cx="502920" cy="502920"/>
          </a:xfrm>
          <a:prstGeom prst="ellipse">
            <a:avLst/>
          </a:prstGeom>
          <a:solidFill>
            <a:srgbClr val="990011"/>
          </a:solidFill>
          <a:ln/>
        </p:spPr>
      </p:sp>
      <p:sp>
        <p:nvSpPr>
          <p:cNvPr id="32" name="Text 30"/>
          <p:cNvSpPr txBox="1"/>
          <p:nvPr/>
        </p:nvSpPr>
        <p:spPr>
          <a:xfrm>
            <a:off x="6473952" y="5111496"/>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3" name="Text 31"/>
          <p:cNvSpPr txBox="1"/>
          <p:nvPr/>
        </p:nvSpPr>
        <p:spPr>
          <a:xfrm>
            <a:off x="7159752" y="4864608"/>
            <a:ext cx="4206240" cy="384048"/>
          </a:xfrm>
          <a:prstGeom prst="rect">
            <a:avLst/>
          </a:prstGeom>
          <a:noFill/>
          <a:ln/>
        </p:spPr>
        <p:txBody>
          <a:bodyPr wrap="square" lIns="0" tIns="0" rIns="0" bIns="0" rtlCol="0" anchor="ctr"/>
          <a:lstStyle/>
          <a:p>
            <a:pPr marL="0" indent="0">
              <a:buNone/>
            </a:pPr>
            <a:r>
              <a:rPr lang="en-US" sz="1700" b="1" dirty="0">
                <a:solidFill>
                  <a:srgbClr val="2F3C7E"/>
                </a:solidFill>
                <a:latin typeface="Cambria" pitchFamily="34" charset="0"/>
                <a:ea typeface="Cambria" pitchFamily="34" charset="-122"/>
                <a:cs typeface="Cambria" pitchFamily="34" charset="-120"/>
              </a:rPr>
              <a:t>Keep the interface simple</a:t>
            </a:r>
            <a:endParaRPr lang="en-US" sz="1700" dirty="0"/>
          </a:p>
        </p:txBody>
      </p:sp>
      <p:sp>
        <p:nvSpPr>
          <p:cNvPr id="34" name="Text 32"/>
          <p:cNvSpPr txBox="1"/>
          <p:nvPr/>
        </p:nvSpPr>
        <p:spPr>
          <a:xfrm>
            <a:off x="7159752" y="5285232"/>
            <a:ext cx="4206240" cy="685800"/>
          </a:xfrm>
          <a:prstGeom prst="rect">
            <a:avLst/>
          </a:prstGeom>
          <a:noFill/>
          <a:ln/>
        </p:spPr>
        <p:txBody>
          <a:bodyPr wrap="square" lIns="0" tIns="0" rIns="0" bIns="0" rtlCol="0" anchor="ctr"/>
          <a:lstStyle/>
          <a:p>
            <a:pPr marL="0" indent="0">
              <a:lnSpc>
                <a:spcPct val="118000"/>
              </a:lnSpc>
              <a:buNone/>
            </a:pPr>
            <a:r>
              <a:rPr lang="en-US" sz="1250" dirty="0">
                <a:solidFill>
                  <a:srgbClr val="555566"/>
                </a:solidFill>
                <a:latin typeface="Calibri" pitchFamily="34" charset="0"/>
                <a:ea typeface="Calibri" pitchFamily="34" charset="-122"/>
                <a:cs typeface="Calibri" pitchFamily="34" charset="-120"/>
              </a:rPr>
              <a:t>Provide a browser-based form usable without training by students and staff.</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20624"/>
            <a:ext cx="475488" cy="475488"/>
          </a:xfrm>
          <a:prstGeom prst="ellipse">
            <a:avLst/>
          </a:prstGeom>
          <a:solidFill>
            <a:srgbClr val="990011"/>
          </a:solidFill>
          <a:ln/>
        </p:spPr>
      </p:sp>
      <p:sp>
        <p:nvSpPr>
          <p:cNvPr id="3" name="Text 1"/>
          <p:cNvSpPr txBox="1"/>
          <p:nvPr/>
        </p:nvSpPr>
        <p:spPr>
          <a:xfrm>
            <a:off x="548640" y="42062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170432" y="384048"/>
            <a:ext cx="10424160" cy="548640"/>
          </a:xfrm>
          <a:prstGeom prst="rect">
            <a:avLst/>
          </a:prstGeom>
          <a:noFill/>
          <a:ln/>
        </p:spPr>
        <p:txBody>
          <a:bodyPr wrap="square" lIns="0" tIns="0" rIns="0" bIns="0" rtlCol="0" anchor="ctr"/>
          <a:lstStyle/>
          <a:p>
            <a:pPr marL="0" indent="0">
              <a:buNone/>
            </a:pPr>
            <a:r>
              <a:rPr lang="en-US" sz="3400" b="1" dirty="0">
                <a:solidFill>
                  <a:srgbClr val="2F3C7E"/>
                </a:solidFill>
                <a:latin typeface="Cambria" pitchFamily="34" charset="0"/>
                <a:ea typeface="Cambria" pitchFamily="34" charset="-122"/>
                <a:cs typeface="Cambria" pitchFamily="34" charset="-120"/>
              </a:rPr>
              <a:t>SCOPE</a:t>
            </a:r>
            <a:endParaRPr lang="en-US" sz="3400" dirty="0"/>
          </a:p>
        </p:txBody>
      </p:sp>
      <p:sp>
        <p:nvSpPr>
          <p:cNvPr id="5" name="Shape 3"/>
          <p:cNvSpPr/>
          <p:nvPr/>
        </p:nvSpPr>
        <p:spPr>
          <a:xfrm>
            <a:off x="548640" y="1234440"/>
            <a:ext cx="5532120" cy="5029200"/>
          </a:xfrm>
          <a:prstGeom prst="roundRect">
            <a:avLst>
              <a:gd name="adj" fmla="val 1455"/>
            </a:avLst>
          </a:prstGeom>
          <a:solidFill>
            <a:srgbClr val="FFFFFF"/>
          </a:solidFill>
          <a:ln w="12700">
            <a:solidFill>
              <a:srgbClr val="D2D8EC"/>
            </a:solidFill>
            <a:prstDash val="solid"/>
          </a:ln>
          <a:effectLst>
            <a:outerShdw blurRad="101600" dist="25400" dir="5400000" algn="bl" rotWithShape="0">
              <a:srgbClr val="9AA0B5">
                <a:alpha val="25000"/>
              </a:srgbClr>
            </a:outerShdw>
          </a:effectLst>
        </p:spPr>
      </p:sp>
      <p:sp>
        <p:nvSpPr>
          <p:cNvPr id="6" name="Shape 4"/>
          <p:cNvSpPr/>
          <p:nvPr/>
        </p:nvSpPr>
        <p:spPr>
          <a:xfrm>
            <a:off x="868680" y="1554480"/>
            <a:ext cx="1965960" cy="384048"/>
          </a:xfrm>
          <a:prstGeom prst="roundRect">
            <a:avLst>
              <a:gd name="adj" fmla="val 19048"/>
            </a:avLst>
          </a:prstGeom>
          <a:solidFill>
            <a:srgbClr val="2F3C7E"/>
          </a:solidFill>
          <a:ln/>
        </p:spPr>
      </p:sp>
      <p:sp>
        <p:nvSpPr>
          <p:cNvPr id="7" name="Text 5"/>
          <p:cNvSpPr txBox="1"/>
          <p:nvPr/>
        </p:nvSpPr>
        <p:spPr>
          <a:xfrm>
            <a:off x="868680" y="1554480"/>
            <a:ext cx="1965960" cy="384048"/>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IN SCOPE</a:t>
            </a:r>
            <a:endParaRPr lang="en-US" sz="1200" dirty="0"/>
          </a:p>
        </p:txBody>
      </p:sp>
      <p:sp>
        <p:nvSpPr>
          <p:cNvPr id="8" name="Text 6"/>
          <p:cNvSpPr txBox="1"/>
          <p:nvPr/>
        </p:nvSpPr>
        <p:spPr>
          <a:xfrm>
            <a:off x="914400" y="2148840"/>
            <a:ext cx="4846320" cy="3931920"/>
          </a:xfrm>
          <a:prstGeom prst="rect">
            <a:avLst/>
          </a:prstGeom>
          <a:noFill/>
          <a:ln/>
        </p:spPr>
        <p:txBody>
          <a:bodyPr wrap="square" lIns="0" tIns="0" rIns="0" bIns="0" rtlCol="0" anchor="t"/>
          <a:lstStyle/>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Student enrolment with department, section, roll number and face data</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Live webcam capture and facial feature extraction</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One-to-one biometric verification against the stored vector</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Timestamped attendance insertion into the MySQL log</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Attendance percentage calculation and defaulter listing</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Browser-based interface for students and faculty</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Single-institution deployment on a local network</a:t>
            </a:r>
            <a:endParaRPr lang="en-US" sz="1300" dirty="0"/>
          </a:p>
        </p:txBody>
      </p:sp>
      <p:sp>
        <p:nvSpPr>
          <p:cNvPr id="9" name="Shape 7"/>
          <p:cNvSpPr/>
          <p:nvPr/>
        </p:nvSpPr>
        <p:spPr>
          <a:xfrm>
            <a:off x="6309360" y="1234440"/>
            <a:ext cx="5330952" cy="5029200"/>
          </a:xfrm>
          <a:prstGeom prst="roundRect">
            <a:avLst>
              <a:gd name="adj" fmla="val 1455"/>
            </a:avLst>
          </a:prstGeom>
          <a:solidFill>
            <a:srgbClr val="F4F4F6"/>
          </a:solidFill>
          <a:ln w="12700">
            <a:solidFill>
              <a:srgbClr val="E4E4EA"/>
            </a:solidFill>
            <a:prstDash val="solid"/>
          </a:ln>
          <a:effectLst>
            <a:outerShdw blurRad="101600" dist="25400" dir="5400000" algn="bl" rotWithShape="0">
              <a:srgbClr val="9AA0B5">
                <a:alpha val="25000"/>
              </a:srgbClr>
            </a:outerShdw>
          </a:effectLst>
        </p:spPr>
      </p:sp>
      <p:sp>
        <p:nvSpPr>
          <p:cNvPr id="10" name="Shape 8"/>
          <p:cNvSpPr/>
          <p:nvPr/>
        </p:nvSpPr>
        <p:spPr>
          <a:xfrm>
            <a:off x="6629400" y="1554480"/>
            <a:ext cx="3246120" cy="384048"/>
          </a:xfrm>
          <a:prstGeom prst="roundRect">
            <a:avLst>
              <a:gd name="adj" fmla="val 19048"/>
            </a:avLst>
          </a:prstGeom>
          <a:solidFill>
            <a:srgbClr val="990011"/>
          </a:solidFill>
          <a:ln/>
        </p:spPr>
      </p:sp>
      <p:sp>
        <p:nvSpPr>
          <p:cNvPr id="11" name="Text 9"/>
          <p:cNvSpPr txBox="1"/>
          <p:nvPr/>
        </p:nvSpPr>
        <p:spPr>
          <a:xfrm>
            <a:off x="6629400" y="1554480"/>
            <a:ext cx="324612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OUT OF SCOPE / FUTURE WORK</a:t>
            </a:r>
            <a:endParaRPr lang="en-US" sz="1100" dirty="0"/>
          </a:p>
        </p:txBody>
      </p:sp>
      <p:sp>
        <p:nvSpPr>
          <p:cNvPr id="12" name="Text 10"/>
          <p:cNvSpPr txBox="1"/>
          <p:nvPr/>
        </p:nvSpPr>
        <p:spPr>
          <a:xfrm>
            <a:off x="6675120" y="2148840"/>
            <a:ext cx="4663440" cy="3108960"/>
          </a:xfrm>
          <a:prstGeom prst="rect">
            <a:avLst/>
          </a:prstGeom>
          <a:noFill/>
          <a:ln/>
        </p:spPr>
        <p:txBody>
          <a:bodyPr wrap="square" lIns="0" tIns="0" rIns="0" bIns="0" rtlCol="0" anchor="t"/>
          <a:lstStyle/>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Mobile application and offline attendance capture</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Cloud hosting with multi-campus synchronisation</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Liveness detection against printed photos or video replay</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Integration with timetable, examination or payroll systems</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Automated parent and guardian notification</a:t>
            </a:r>
            <a:endParaRPr lang="en-US" sz="1300" dirty="0"/>
          </a:p>
          <a:p>
            <a:pPr marL="342900" indent="-342900">
              <a:lnSpc>
                <a:spcPct val="115000"/>
              </a:lnSpc>
              <a:spcAft>
                <a:spcPts val="1100"/>
              </a:spcAft>
              <a:buSzPct val="100000"/>
              <a:buChar char="•"/>
            </a:pPr>
            <a:r>
              <a:rPr lang="en-US" sz="1300" dirty="0">
                <a:solidFill>
                  <a:srgbClr val="555566"/>
                </a:solidFill>
                <a:latin typeface="Calibri" pitchFamily="34" charset="0"/>
                <a:ea typeface="Calibri" pitchFamily="34" charset="-122"/>
                <a:cs typeface="Calibri" pitchFamily="34" charset="-120"/>
              </a:rPr>
              <a:t>Recognition of an entire classroom from a single frame</a:t>
            </a:r>
            <a:endParaRPr lang="en-US" sz="1300" dirty="0"/>
          </a:p>
        </p:txBody>
      </p:sp>
      <p:sp>
        <p:nvSpPr>
          <p:cNvPr id="13" name="Text 11"/>
          <p:cNvSpPr txBox="1"/>
          <p:nvPr/>
        </p:nvSpPr>
        <p:spPr>
          <a:xfrm>
            <a:off x="6675120" y="5349240"/>
            <a:ext cx="4663440" cy="685800"/>
          </a:xfrm>
          <a:prstGeom prst="rect">
            <a:avLst/>
          </a:prstGeom>
          <a:noFill/>
          <a:ln/>
        </p:spPr>
        <p:txBody>
          <a:bodyPr wrap="square" lIns="0" tIns="0" rIns="0" bIns="0" rtlCol="0" anchor="ctr"/>
          <a:lstStyle/>
          <a:p>
            <a:pPr marL="0" indent="0">
              <a:lnSpc>
                <a:spcPct val="118000"/>
              </a:lnSpc>
              <a:buNone/>
            </a:pPr>
            <a:r>
              <a:rPr lang="en-US" sz="1200" i="1" dirty="0">
                <a:solidFill>
                  <a:srgbClr val="990011"/>
                </a:solidFill>
                <a:latin typeface="Calibri" pitchFamily="34" charset="0"/>
                <a:ea typeface="Calibri" pitchFamily="34" charset="-122"/>
                <a:cs typeface="Calibri" pitchFamily="34" charset="-120"/>
              </a:rPr>
              <a:t>These are deliberate boundaries for the current version, not limitations of the approach.</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20624"/>
            <a:ext cx="475488" cy="475488"/>
          </a:xfrm>
          <a:prstGeom prst="ellipse">
            <a:avLst/>
          </a:prstGeom>
          <a:solidFill>
            <a:srgbClr val="990011"/>
          </a:solidFill>
          <a:ln/>
        </p:spPr>
      </p:sp>
      <p:sp>
        <p:nvSpPr>
          <p:cNvPr id="3" name="Text 1"/>
          <p:cNvSpPr txBox="1"/>
          <p:nvPr/>
        </p:nvSpPr>
        <p:spPr>
          <a:xfrm>
            <a:off x="548640" y="42062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170432" y="384048"/>
            <a:ext cx="10424160" cy="548640"/>
          </a:xfrm>
          <a:prstGeom prst="rect">
            <a:avLst/>
          </a:prstGeom>
          <a:noFill/>
          <a:ln/>
        </p:spPr>
        <p:txBody>
          <a:bodyPr wrap="square" lIns="0" tIns="0" rIns="0" bIns="0" rtlCol="0" anchor="ctr"/>
          <a:lstStyle/>
          <a:p>
            <a:pPr marL="0" indent="0">
              <a:buNone/>
            </a:pPr>
            <a:r>
              <a:rPr lang="en-US" sz="3400" b="1" dirty="0">
                <a:solidFill>
                  <a:srgbClr val="2F3C7E"/>
                </a:solidFill>
                <a:latin typeface="Cambria" pitchFamily="34" charset="0"/>
                <a:ea typeface="Cambria" pitchFamily="34" charset="-122"/>
                <a:cs typeface="Cambria" pitchFamily="34" charset="-120"/>
              </a:rPr>
              <a:t>TECHNOLOGY IDENTIFICATION</a:t>
            </a:r>
            <a:endParaRPr lang="en-US" sz="3400" dirty="0"/>
          </a:p>
        </p:txBody>
      </p:sp>
      <p:sp>
        <p:nvSpPr>
          <p:cNvPr id="5" name="Shape 3"/>
          <p:cNvSpPr/>
          <p:nvPr/>
        </p:nvSpPr>
        <p:spPr>
          <a:xfrm>
            <a:off x="548640" y="1280160"/>
            <a:ext cx="11091672" cy="896112"/>
          </a:xfrm>
          <a:prstGeom prst="roundRect">
            <a:avLst>
              <a:gd name="adj" fmla="val 8163"/>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6" name="Shape 4"/>
          <p:cNvSpPr/>
          <p:nvPr/>
        </p:nvSpPr>
        <p:spPr>
          <a:xfrm>
            <a:off x="777240" y="1499616"/>
            <a:ext cx="1691640" cy="457200"/>
          </a:xfrm>
          <a:prstGeom prst="roundRect">
            <a:avLst>
              <a:gd name="adj" fmla="val 16000"/>
            </a:avLst>
          </a:prstGeom>
          <a:solidFill>
            <a:srgbClr val="2F3C7E"/>
          </a:solidFill>
          <a:ln/>
        </p:spPr>
      </p:sp>
      <p:sp>
        <p:nvSpPr>
          <p:cNvPr id="7" name="Text 5"/>
          <p:cNvSpPr txBox="1"/>
          <p:nvPr/>
        </p:nvSpPr>
        <p:spPr>
          <a:xfrm>
            <a:off x="777240" y="1499616"/>
            <a:ext cx="1691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Frontend</a:t>
            </a:r>
            <a:endParaRPr lang="en-US" sz="1250" dirty="0"/>
          </a:p>
        </p:txBody>
      </p:sp>
      <p:sp>
        <p:nvSpPr>
          <p:cNvPr id="8" name="Shape 6"/>
          <p:cNvSpPr/>
          <p:nvPr/>
        </p:nvSpPr>
        <p:spPr>
          <a:xfrm>
            <a:off x="2697480" y="1517904"/>
            <a:ext cx="512064" cy="420624"/>
          </a:xfrm>
          <a:prstGeom prst="roundRect">
            <a:avLst>
              <a:gd name="adj" fmla="val 21739"/>
            </a:avLst>
          </a:prstGeom>
          <a:solidFill>
            <a:srgbClr val="EDEFF7"/>
          </a:solidFill>
          <a:ln w="12700">
            <a:solidFill>
              <a:srgbClr val="D2D8EC"/>
            </a:solidFill>
            <a:prstDash val="solid"/>
          </a:ln>
        </p:spPr>
      </p:sp>
      <p:sp>
        <p:nvSpPr>
          <p:cNvPr id="9" name="Text 7"/>
          <p:cNvSpPr txBox="1"/>
          <p:nvPr/>
        </p:nvSpPr>
        <p:spPr>
          <a:xfrm>
            <a:off x="2697480" y="1517904"/>
            <a:ext cx="512064" cy="420624"/>
          </a:xfrm>
          <a:prstGeom prst="rect">
            <a:avLst/>
          </a:prstGeom>
          <a:noFill/>
          <a:ln/>
        </p:spPr>
        <p:txBody>
          <a:bodyPr wrap="square" lIns="0" tIns="0" rIns="0" bIns="0" rtlCol="0" anchor="ctr"/>
          <a:lstStyle/>
          <a:p>
            <a:pPr marL="0" indent="0" algn="ctr">
              <a:buNone/>
            </a:pPr>
            <a:r>
              <a:rPr lang="en-US" sz="1050" b="1" dirty="0">
                <a:solidFill>
                  <a:srgbClr val="2F3C7E"/>
                </a:solidFill>
                <a:latin typeface="Calibri" pitchFamily="34" charset="0"/>
                <a:ea typeface="Calibri" pitchFamily="34" charset="-122"/>
                <a:cs typeface="Calibri" pitchFamily="34" charset="-120"/>
              </a:rPr>
              <a:t>HTML5</a:t>
            </a:r>
            <a:endParaRPr lang="en-US" sz="1050" dirty="0"/>
          </a:p>
        </p:txBody>
      </p:sp>
      <p:sp>
        <p:nvSpPr>
          <p:cNvPr id="10" name="Shape 8"/>
          <p:cNvSpPr/>
          <p:nvPr/>
        </p:nvSpPr>
        <p:spPr>
          <a:xfrm>
            <a:off x="3337560" y="1517904"/>
            <a:ext cx="446227" cy="420624"/>
          </a:xfrm>
          <a:prstGeom prst="roundRect">
            <a:avLst>
              <a:gd name="adj" fmla="val 21739"/>
            </a:avLst>
          </a:prstGeom>
          <a:solidFill>
            <a:srgbClr val="EDEFF7"/>
          </a:solidFill>
          <a:ln w="12700">
            <a:solidFill>
              <a:srgbClr val="D2D8EC"/>
            </a:solidFill>
            <a:prstDash val="solid"/>
          </a:ln>
        </p:spPr>
      </p:sp>
      <p:sp>
        <p:nvSpPr>
          <p:cNvPr id="11" name="Text 9"/>
          <p:cNvSpPr txBox="1"/>
          <p:nvPr/>
        </p:nvSpPr>
        <p:spPr>
          <a:xfrm>
            <a:off x="3337560" y="1517904"/>
            <a:ext cx="446227" cy="420624"/>
          </a:xfrm>
          <a:prstGeom prst="rect">
            <a:avLst/>
          </a:prstGeom>
          <a:noFill/>
          <a:ln/>
        </p:spPr>
        <p:txBody>
          <a:bodyPr wrap="square" lIns="0" tIns="0" rIns="0" bIns="0" rtlCol="0" anchor="ctr"/>
          <a:lstStyle/>
          <a:p>
            <a:pPr marL="0" indent="0" algn="ctr">
              <a:buNone/>
            </a:pPr>
            <a:r>
              <a:rPr lang="en-US" sz="1050" b="1" dirty="0">
                <a:solidFill>
                  <a:srgbClr val="2F3C7E"/>
                </a:solidFill>
                <a:latin typeface="Calibri" pitchFamily="34" charset="0"/>
                <a:ea typeface="Calibri" pitchFamily="34" charset="-122"/>
                <a:cs typeface="Calibri" pitchFamily="34" charset="-120"/>
              </a:rPr>
              <a:t>CSS3</a:t>
            </a:r>
            <a:endParaRPr lang="en-US" sz="1050" dirty="0"/>
          </a:p>
        </p:txBody>
      </p:sp>
      <p:sp>
        <p:nvSpPr>
          <p:cNvPr id="12" name="Shape 10"/>
          <p:cNvSpPr/>
          <p:nvPr/>
        </p:nvSpPr>
        <p:spPr>
          <a:xfrm>
            <a:off x="3911803" y="1517904"/>
            <a:ext cx="841248" cy="420624"/>
          </a:xfrm>
          <a:prstGeom prst="roundRect">
            <a:avLst>
              <a:gd name="adj" fmla="val 21739"/>
            </a:avLst>
          </a:prstGeom>
          <a:solidFill>
            <a:srgbClr val="EDEFF7"/>
          </a:solidFill>
          <a:ln w="12700">
            <a:solidFill>
              <a:srgbClr val="D2D8EC"/>
            </a:solidFill>
            <a:prstDash val="solid"/>
          </a:ln>
        </p:spPr>
      </p:sp>
      <p:sp>
        <p:nvSpPr>
          <p:cNvPr id="13" name="Text 11"/>
          <p:cNvSpPr txBox="1"/>
          <p:nvPr/>
        </p:nvSpPr>
        <p:spPr>
          <a:xfrm>
            <a:off x="3911803" y="1517904"/>
            <a:ext cx="841248" cy="420624"/>
          </a:xfrm>
          <a:prstGeom prst="rect">
            <a:avLst/>
          </a:prstGeom>
          <a:noFill/>
          <a:ln/>
        </p:spPr>
        <p:txBody>
          <a:bodyPr wrap="square" lIns="0" tIns="0" rIns="0" bIns="0" rtlCol="0" anchor="ctr"/>
          <a:lstStyle/>
          <a:p>
            <a:pPr marL="0" indent="0" algn="ctr">
              <a:buNone/>
            </a:pPr>
            <a:r>
              <a:rPr lang="en-US" sz="1050" b="1" dirty="0">
                <a:solidFill>
                  <a:srgbClr val="2F3C7E"/>
                </a:solidFill>
                <a:latin typeface="Calibri" pitchFamily="34" charset="0"/>
                <a:ea typeface="Calibri" pitchFamily="34" charset="-122"/>
                <a:cs typeface="Calibri" pitchFamily="34" charset="-120"/>
              </a:rPr>
              <a:t>JavaScript</a:t>
            </a:r>
            <a:endParaRPr lang="en-US" sz="1050" dirty="0"/>
          </a:p>
        </p:txBody>
      </p:sp>
      <p:sp>
        <p:nvSpPr>
          <p:cNvPr id="14" name="Text 12"/>
          <p:cNvSpPr txBox="1"/>
          <p:nvPr/>
        </p:nvSpPr>
        <p:spPr>
          <a:xfrm>
            <a:off x="7178040" y="1280160"/>
            <a:ext cx="4297680" cy="896112"/>
          </a:xfrm>
          <a:prstGeom prst="rect">
            <a:avLst/>
          </a:prstGeom>
          <a:noFill/>
          <a:ln/>
        </p:spPr>
        <p:txBody>
          <a:bodyPr wrap="square" lIns="0" tIns="0" rIns="0" bIns="0" rtlCol="0" anchor="ctr"/>
          <a:lstStyle/>
          <a:p>
            <a:pPr marL="0" indent="0">
              <a:lnSpc>
                <a:spcPct val="115000"/>
              </a:lnSpc>
              <a:buNone/>
            </a:pPr>
            <a:r>
              <a:rPr lang="en-US" sz="1150" dirty="0">
                <a:solidFill>
                  <a:srgbClr val="555566"/>
                </a:solidFill>
                <a:latin typeface="Calibri" pitchFamily="34" charset="0"/>
                <a:ea typeface="Calibri" pitchFamily="34" charset="-122"/>
                <a:cs typeface="Calibri" pitchFamily="34" charset="-120"/>
              </a:rPr>
              <a:t>Registration and attendance forms, live camera preview, status display</a:t>
            </a:r>
            <a:endParaRPr lang="en-US" sz="1150" dirty="0"/>
          </a:p>
        </p:txBody>
      </p:sp>
      <p:sp>
        <p:nvSpPr>
          <p:cNvPr id="15" name="Shape 13"/>
          <p:cNvSpPr/>
          <p:nvPr/>
        </p:nvSpPr>
        <p:spPr>
          <a:xfrm>
            <a:off x="548640" y="2286000"/>
            <a:ext cx="11091672" cy="896112"/>
          </a:xfrm>
          <a:prstGeom prst="roundRect">
            <a:avLst>
              <a:gd name="adj" fmla="val 8163"/>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16" name="Shape 14"/>
          <p:cNvSpPr/>
          <p:nvPr/>
        </p:nvSpPr>
        <p:spPr>
          <a:xfrm>
            <a:off x="777240" y="2505456"/>
            <a:ext cx="1691640" cy="457200"/>
          </a:xfrm>
          <a:prstGeom prst="roundRect">
            <a:avLst>
              <a:gd name="adj" fmla="val 16000"/>
            </a:avLst>
          </a:prstGeom>
          <a:solidFill>
            <a:srgbClr val="990011"/>
          </a:solidFill>
          <a:ln/>
        </p:spPr>
      </p:sp>
      <p:sp>
        <p:nvSpPr>
          <p:cNvPr id="17" name="Text 15"/>
          <p:cNvSpPr txBox="1"/>
          <p:nvPr/>
        </p:nvSpPr>
        <p:spPr>
          <a:xfrm>
            <a:off x="777240" y="2505456"/>
            <a:ext cx="1691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Vision module</a:t>
            </a:r>
            <a:endParaRPr lang="en-US" sz="1250" dirty="0"/>
          </a:p>
        </p:txBody>
      </p:sp>
      <p:sp>
        <p:nvSpPr>
          <p:cNvPr id="18" name="Shape 16"/>
          <p:cNvSpPr/>
          <p:nvPr/>
        </p:nvSpPr>
        <p:spPr>
          <a:xfrm>
            <a:off x="2697480" y="2523744"/>
            <a:ext cx="1170432" cy="420624"/>
          </a:xfrm>
          <a:prstGeom prst="roundRect">
            <a:avLst>
              <a:gd name="adj" fmla="val 21739"/>
            </a:avLst>
          </a:prstGeom>
          <a:solidFill>
            <a:srgbClr val="FBEAEC"/>
          </a:solidFill>
          <a:ln w="12700">
            <a:solidFill>
              <a:srgbClr val="F0D4D8"/>
            </a:solidFill>
            <a:prstDash val="solid"/>
          </a:ln>
        </p:spPr>
      </p:sp>
      <p:sp>
        <p:nvSpPr>
          <p:cNvPr id="19" name="Text 17"/>
          <p:cNvSpPr txBox="1"/>
          <p:nvPr/>
        </p:nvSpPr>
        <p:spPr>
          <a:xfrm>
            <a:off x="2697480" y="2523744"/>
            <a:ext cx="1170432" cy="420624"/>
          </a:xfrm>
          <a:prstGeom prst="rect">
            <a:avLst/>
          </a:prstGeom>
          <a:noFill/>
          <a:ln/>
        </p:spPr>
        <p:txBody>
          <a:bodyPr wrap="square" lIns="0" tIns="0" rIns="0" bIns="0" rtlCol="0" anchor="ctr"/>
          <a:lstStyle/>
          <a:p>
            <a:pPr marL="0" indent="0" algn="ctr">
              <a:buNone/>
            </a:pPr>
            <a:r>
              <a:rPr lang="en-US" sz="1050" b="1" dirty="0">
                <a:solidFill>
                  <a:srgbClr val="990011"/>
                </a:solidFill>
                <a:latin typeface="Calibri" pitchFamily="34" charset="0"/>
                <a:ea typeface="Calibri" pitchFamily="34" charset="-122"/>
                <a:cs typeface="Calibri" pitchFamily="34" charset="-120"/>
              </a:rPr>
              <a:t>Computer Vision</a:t>
            </a:r>
            <a:endParaRPr lang="en-US" sz="1050" dirty="0"/>
          </a:p>
        </p:txBody>
      </p:sp>
      <p:sp>
        <p:nvSpPr>
          <p:cNvPr id="20" name="Shape 18"/>
          <p:cNvSpPr/>
          <p:nvPr/>
        </p:nvSpPr>
        <p:spPr>
          <a:xfrm>
            <a:off x="3995928" y="2523744"/>
            <a:ext cx="1236269" cy="420624"/>
          </a:xfrm>
          <a:prstGeom prst="roundRect">
            <a:avLst>
              <a:gd name="adj" fmla="val 21739"/>
            </a:avLst>
          </a:prstGeom>
          <a:solidFill>
            <a:srgbClr val="FBEAEC"/>
          </a:solidFill>
          <a:ln w="12700">
            <a:solidFill>
              <a:srgbClr val="F0D4D8"/>
            </a:solidFill>
            <a:prstDash val="solid"/>
          </a:ln>
        </p:spPr>
      </p:sp>
      <p:sp>
        <p:nvSpPr>
          <p:cNvPr id="21" name="Text 19"/>
          <p:cNvSpPr txBox="1"/>
          <p:nvPr/>
        </p:nvSpPr>
        <p:spPr>
          <a:xfrm>
            <a:off x="3995928" y="2523744"/>
            <a:ext cx="1236269" cy="420624"/>
          </a:xfrm>
          <a:prstGeom prst="rect">
            <a:avLst/>
          </a:prstGeom>
          <a:noFill/>
          <a:ln/>
        </p:spPr>
        <p:txBody>
          <a:bodyPr wrap="square" lIns="0" tIns="0" rIns="0" bIns="0" rtlCol="0" anchor="ctr"/>
          <a:lstStyle/>
          <a:p>
            <a:pPr marL="0" indent="0" algn="ctr">
              <a:buNone/>
            </a:pPr>
            <a:r>
              <a:rPr lang="en-US" sz="1050" b="1" dirty="0">
                <a:solidFill>
                  <a:srgbClr val="990011"/>
                </a:solidFill>
                <a:latin typeface="Calibri" pitchFamily="34" charset="0"/>
                <a:ea typeface="Calibri" pitchFamily="34" charset="-122"/>
                <a:cs typeface="Calibri" pitchFamily="34" charset="-120"/>
              </a:rPr>
              <a:t>Face Matcher API</a:t>
            </a:r>
            <a:endParaRPr lang="en-US" sz="1050" dirty="0"/>
          </a:p>
        </p:txBody>
      </p:sp>
      <p:sp>
        <p:nvSpPr>
          <p:cNvPr id="22" name="Shape 20"/>
          <p:cNvSpPr/>
          <p:nvPr/>
        </p:nvSpPr>
        <p:spPr>
          <a:xfrm>
            <a:off x="5360213" y="2523744"/>
            <a:ext cx="1367942" cy="420624"/>
          </a:xfrm>
          <a:prstGeom prst="roundRect">
            <a:avLst>
              <a:gd name="adj" fmla="val 21739"/>
            </a:avLst>
          </a:prstGeom>
          <a:solidFill>
            <a:srgbClr val="FBEAEC"/>
          </a:solidFill>
          <a:ln w="12700">
            <a:solidFill>
              <a:srgbClr val="F0D4D8"/>
            </a:solidFill>
            <a:prstDash val="solid"/>
          </a:ln>
        </p:spPr>
      </p:sp>
      <p:sp>
        <p:nvSpPr>
          <p:cNvPr id="23" name="Text 21"/>
          <p:cNvSpPr txBox="1"/>
          <p:nvPr/>
        </p:nvSpPr>
        <p:spPr>
          <a:xfrm>
            <a:off x="5360213" y="2523744"/>
            <a:ext cx="1367942" cy="420624"/>
          </a:xfrm>
          <a:prstGeom prst="rect">
            <a:avLst/>
          </a:prstGeom>
          <a:noFill/>
          <a:ln/>
        </p:spPr>
        <p:txBody>
          <a:bodyPr wrap="square" lIns="0" tIns="0" rIns="0" bIns="0" rtlCol="0" anchor="ctr"/>
          <a:lstStyle/>
          <a:p>
            <a:pPr marL="0" indent="0" algn="ctr">
              <a:buNone/>
            </a:pPr>
            <a:r>
              <a:rPr lang="en-US" sz="1050" b="1" dirty="0">
                <a:solidFill>
                  <a:srgbClr val="990011"/>
                </a:solidFill>
                <a:latin typeface="Calibri" pitchFamily="34" charset="0"/>
                <a:ea typeface="Calibri" pitchFamily="34" charset="-122"/>
                <a:cs typeface="Calibri" pitchFamily="34" charset="-120"/>
              </a:rPr>
              <a:t>Feature Extraction</a:t>
            </a:r>
            <a:endParaRPr lang="en-US" sz="1050" dirty="0"/>
          </a:p>
        </p:txBody>
      </p:sp>
      <p:sp>
        <p:nvSpPr>
          <p:cNvPr id="24" name="Text 22"/>
          <p:cNvSpPr txBox="1"/>
          <p:nvPr/>
        </p:nvSpPr>
        <p:spPr>
          <a:xfrm>
            <a:off x="7178040" y="2286000"/>
            <a:ext cx="4297680" cy="896112"/>
          </a:xfrm>
          <a:prstGeom prst="rect">
            <a:avLst/>
          </a:prstGeom>
          <a:noFill/>
          <a:ln/>
        </p:spPr>
        <p:txBody>
          <a:bodyPr wrap="square" lIns="0" tIns="0" rIns="0" bIns="0" rtlCol="0" anchor="ctr"/>
          <a:lstStyle/>
          <a:p>
            <a:pPr marL="0" indent="0">
              <a:lnSpc>
                <a:spcPct val="115000"/>
              </a:lnSpc>
              <a:buNone/>
            </a:pPr>
            <a:r>
              <a:rPr lang="en-US" sz="1150" dirty="0">
                <a:solidFill>
                  <a:srgbClr val="555566"/>
                </a:solidFill>
                <a:latin typeface="Calibri" pitchFamily="34" charset="0"/>
                <a:ea typeface="Calibri" pitchFamily="34" charset="-122"/>
                <a:cs typeface="Calibri" pitchFamily="34" charset="-120"/>
              </a:rPr>
              <a:t>Face detection, encoding into a feature vector, similarity comparison</a:t>
            </a:r>
            <a:endParaRPr lang="en-US" sz="1150" dirty="0"/>
          </a:p>
        </p:txBody>
      </p:sp>
      <p:sp>
        <p:nvSpPr>
          <p:cNvPr id="25" name="Shape 23"/>
          <p:cNvSpPr/>
          <p:nvPr/>
        </p:nvSpPr>
        <p:spPr>
          <a:xfrm>
            <a:off x="548640" y="3291840"/>
            <a:ext cx="11091672" cy="896112"/>
          </a:xfrm>
          <a:prstGeom prst="roundRect">
            <a:avLst>
              <a:gd name="adj" fmla="val 8163"/>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26" name="Shape 24"/>
          <p:cNvSpPr/>
          <p:nvPr/>
        </p:nvSpPr>
        <p:spPr>
          <a:xfrm>
            <a:off x="777240" y="3511296"/>
            <a:ext cx="1691640" cy="457200"/>
          </a:xfrm>
          <a:prstGeom prst="roundRect">
            <a:avLst>
              <a:gd name="adj" fmla="val 16000"/>
            </a:avLst>
          </a:prstGeom>
          <a:solidFill>
            <a:srgbClr val="2F3C7E"/>
          </a:solidFill>
          <a:ln/>
        </p:spPr>
      </p:sp>
      <p:sp>
        <p:nvSpPr>
          <p:cNvPr id="27" name="Text 25"/>
          <p:cNvSpPr txBox="1"/>
          <p:nvPr/>
        </p:nvSpPr>
        <p:spPr>
          <a:xfrm>
            <a:off x="777240" y="3511296"/>
            <a:ext cx="1691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p:txBody>
      </p:sp>
      <p:sp>
        <p:nvSpPr>
          <p:cNvPr id="28" name="Shape 26"/>
          <p:cNvSpPr/>
          <p:nvPr/>
        </p:nvSpPr>
        <p:spPr>
          <a:xfrm>
            <a:off x="2697480" y="3529584"/>
            <a:ext cx="972922" cy="420624"/>
          </a:xfrm>
          <a:prstGeom prst="roundRect">
            <a:avLst>
              <a:gd name="adj" fmla="val 21739"/>
            </a:avLst>
          </a:prstGeom>
          <a:solidFill>
            <a:srgbClr val="EDEFF7"/>
          </a:solidFill>
          <a:ln w="12700">
            <a:solidFill>
              <a:srgbClr val="D2D8EC"/>
            </a:solidFill>
            <a:prstDash val="solid"/>
          </a:ln>
        </p:spPr>
      </p:sp>
      <p:sp>
        <p:nvSpPr>
          <p:cNvPr id="29" name="Text 27"/>
          <p:cNvSpPr txBox="1"/>
          <p:nvPr/>
        </p:nvSpPr>
        <p:spPr>
          <a:xfrm>
            <a:off x="2697480" y="3529584"/>
            <a:ext cx="972922" cy="420624"/>
          </a:xfrm>
          <a:prstGeom prst="rect">
            <a:avLst/>
          </a:prstGeom>
          <a:noFill/>
          <a:ln/>
        </p:spPr>
        <p:txBody>
          <a:bodyPr wrap="square" lIns="0" tIns="0" rIns="0" bIns="0" rtlCol="0" anchor="ctr"/>
          <a:lstStyle/>
          <a:p>
            <a:pPr marL="0" indent="0" algn="ctr">
              <a:buNone/>
            </a:pPr>
            <a:r>
              <a:rPr lang="en-US" sz="1050" b="1" dirty="0">
                <a:solidFill>
                  <a:srgbClr val="2F3C7E"/>
                </a:solidFill>
                <a:latin typeface="Calibri" pitchFamily="34" charset="0"/>
                <a:ea typeface="Calibri" pitchFamily="34" charset="-122"/>
                <a:cs typeface="Calibri" pitchFamily="34" charset="-120"/>
              </a:rPr>
              <a:t>MySQL Server</a:t>
            </a:r>
            <a:endParaRPr lang="en-US" sz="1050" dirty="0"/>
          </a:p>
        </p:txBody>
      </p:sp>
      <p:sp>
        <p:nvSpPr>
          <p:cNvPr id="30" name="Shape 28"/>
          <p:cNvSpPr/>
          <p:nvPr/>
        </p:nvSpPr>
        <p:spPr>
          <a:xfrm>
            <a:off x="3798418" y="3529584"/>
            <a:ext cx="1170432" cy="420624"/>
          </a:xfrm>
          <a:prstGeom prst="roundRect">
            <a:avLst>
              <a:gd name="adj" fmla="val 21739"/>
            </a:avLst>
          </a:prstGeom>
          <a:solidFill>
            <a:srgbClr val="EDEFF7"/>
          </a:solidFill>
          <a:ln w="12700">
            <a:solidFill>
              <a:srgbClr val="D2D8EC"/>
            </a:solidFill>
            <a:prstDash val="solid"/>
          </a:ln>
        </p:spPr>
      </p:sp>
      <p:sp>
        <p:nvSpPr>
          <p:cNvPr id="31" name="Text 29"/>
          <p:cNvSpPr txBox="1"/>
          <p:nvPr/>
        </p:nvSpPr>
        <p:spPr>
          <a:xfrm>
            <a:off x="3798418" y="3529584"/>
            <a:ext cx="1170432" cy="420624"/>
          </a:xfrm>
          <a:prstGeom prst="rect">
            <a:avLst/>
          </a:prstGeom>
          <a:noFill/>
          <a:ln/>
        </p:spPr>
        <p:txBody>
          <a:bodyPr wrap="square" lIns="0" tIns="0" rIns="0" bIns="0" rtlCol="0" anchor="ctr"/>
          <a:lstStyle/>
          <a:p>
            <a:pPr marL="0" indent="0" algn="ctr">
              <a:buNone/>
            </a:pPr>
            <a:r>
              <a:rPr lang="en-US" sz="1050" b="1" dirty="0">
                <a:solidFill>
                  <a:srgbClr val="2F3C7E"/>
                </a:solidFill>
                <a:latin typeface="Calibri" pitchFamily="34" charset="0"/>
                <a:ea typeface="Calibri" pitchFamily="34" charset="-122"/>
                <a:cs typeface="Calibri" pitchFamily="34" charset="-120"/>
              </a:rPr>
              <a:t>SQL / DDL / DML</a:t>
            </a:r>
            <a:endParaRPr lang="en-US" sz="1050" dirty="0"/>
          </a:p>
        </p:txBody>
      </p:sp>
      <p:sp>
        <p:nvSpPr>
          <p:cNvPr id="32" name="Text 30"/>
          <p:cNvSpPr txBox="1"/>
          <p:nvPr/>
        </p:nvSpPr>
        <p:spPr>
          <a:xfrm>
            <a:off x="7178040" y="3291840"/>
            <a:ext cx="4297680" cy="896112"/>
          </a:xfrm>
          <a:prstGeom prst="rect">
            <a:avLst/>
          </a:prstGeom>
          <a:noFill/>
          <a:ln/>
        </p:spPr>
        <p:txBody>
          <a:bodyPr wrap="square" lIns="0" tIns="0" rIns="0" bIns="0" rtlCol="0" anchor="ctr"/>
          <a:lstStyle/>
          <a:p>
            <a:pPr marL="0" indent="0">
              <a:lnSpc>
                <a:spcPct val="115000"/>
              </a:lnSpc>
              <a:buNone/>
            </a:pPr>
            <a:r>
              <a:rPr lang="en-US" sz="1150" dirty="0">
                <a:solidFill>
                  <a:srgbClr val="555566"/>
                </a:solidFill>
                <a:latin typeface="Calibri" pitchFamily="34" charset="0"/>
                <a:ea typeface="Calibri" pitchFamily="34" charset="-122"/>
                <a:cs typeface="Calibri" pitchFamily="34" charset="-120"/>
              </a:rPr>
              <a:t>Student master, face vector store, attendance log, report queries</a:t>
            </a:r>
            <a:endParaRPr lang="en-US" sz="1150" dirty="0"/>
          </a:p>
        </p:txBody>
      </p:sp>
      <p:sp>
        <p:nvSpPr>
          <p:cNvPr id="33" name="Shape 31"/>
          <p:cNvSpPr/>
          <p:nvPr/>
        </p:nvSpPr>
        <p:spPr>
          <a:xfrm>
            <a:off x="548640" y="4297680"/>
            <a:ext cx="11091672" cy="896112"/>
          </a:xfrm>
          <a:prstGeom prst="roundRect">
            <a:avLst>
              <a:gd name="adj" fmla="val 8163"/>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34" name="Shape 32"/>
          <p:cNvSpPr/>
          <p:nvPr/>
        </p:nvSpPr>
        <p:spPr>
          <a:xfrm>
            <a:off x="777240" y="4517136"/>
            <a:ext cx="1691640" cy="457200"/>
          </a:xfrm>
          <a:prstGeom prst="roundRect">
            <a:avLst>
              <a:gd name="adj" fmla="val 16000"/>
            </a:avLst>
          </a:prstGeom>
          <a:solidFill>
            <a:srgbClr val="990011"/>
          </a:solidFill>
          <a:ln/>
        </p:spPr>
      </p:sp>
      <p:sp>
        <p:nvSpPr>
          <p:cNvPr id="35" name="Text 33"/>
          <p:cNvSpPr txBox="1"/>
          <p:nvPr/>
        </p:nvSpPr>
        <p:spPr>
          <a:xfrm>
            <a:off x="777240" y="4517136"/>
            <a:ext cx="1691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Environment</a:t>
            </a:r>
            <a:endParaRPr lang="en-US" sz="1250" dirty="0"/>
          </a:p>
        </p:txBody>
      </p:sp>
      <p:sp>
        <p:nvSpPr>
          <p:cNvPr id="36" name="Shape 34"/>
          <p:cNvSpPr/>
          <p:nvPr/>
        </p:nvSpPr>
        <p:spPr>
          <a:xfrm>
            <a:off x="2697480" y="4535424"/>
            <a:ext cx="643738" cy="420624"/>
          </a:xfrm>
          <a:prstGeom prst="roundRect">
            <a:avLst>
              <a:gd name="adj" fmla="val 21739"/>
            </a:avLst>
          </a:prstGeom>
          <a:solidFill>
            <a:srgbClr val="FBEAEC"/>
          </a:solidFill>
          <a:ln w="12700">
            <a:solidFill>
              <a:srgbClr val="F0D4D8"/>
            </a:solidFill>
            <a:prstDash val="solid"/>
          </a:ln>
        </p:spPr>
      </p:sp>
      <p:sp>
        <p:nvSpPr>
          <p:cNvPr id="37" name="Text 35"/>
          <p:cNvSpPr txBox="1"/>
          <p:nvPr/>
        </p:nvSpPr>
        <p:spPr>
          <a:xfrm>
            <a:off x="2697480" y="4535424"/>
            <a:ext cx="643738" cy="420624"/>
          </a:xfrm>
          <a:prstGeom prst="rect">
            <a:avLst/>
          </a:prstGeom>
          <a:noFill/>
          <a:ln/>
        </p:spPr>
        <p:txBody>
          <a:bodyPr wrap="square" lIns="0" tIns="0" rIns="0" bIns="0" rtlCol="0" anchor="ctr"/>
          <a:lstStyle/>
          <a:p>
            <a:pPr marL="0" indent="0" algn="ctr">
              <a:buNone/>
            </a:pPr>
            <a:r>
              <a:rPr lang="en-US" sz="1050" b="1" dirty="0">
                <a:solidFill>
                  <a:srgbClr val="990011"/>
                </a:solidFill>
                <a:latin typeface="Calibri" pitchFamily="34" charset="0"/>
                <a:ea typeface="Calibri" pitchFamily="34" charset="-122"/>
                <a:cs typeface="Calibri" pitchFamily="34" charset="-120"/>
              </a:rPr>
              <a:t>VS Code</a:t>
            </a:r>
            <a:endParaRPr lang="en-US" sz="1050" dirty="0"/>
          </a:p>
        </p:txBody>
      </p:sp>
      <p:sp>
        <p:nvSpPr>
          <p:cNvPr id="38" name="Shape 36"/>
          <p:cNvSpPr/>
          <p:nvPr/>
        </p:nvSpPr>
        <p:spPr>
          <a:xfrm>
            <a:off x="3469234" y="4535424"/>
            <a:ext cx="1170432" cy="420624"/>
          </a:xfrm>
          <a:prstGeom prst="roundRect">
            <a:avLst>
              <a:gd name="adj" fmla="val 21739"/>
            </a:avLst>
          </a:prstGeom>
          <a:solidFill>
            <a:srgbClr val="FBEAEC"/>
          </a:solidFill>
          <a:ln w="12700">
            <a:solidFill>
              <a:srgbClr val="F0D4D8"/>
            </a:solidFill>
            <a:prstDash val="solid"/>
          </a:ln>
        </p:spPr>
      </p:sp>
      <p:sp>
        <p:nvSpPr>
          <p:cNvPr id="39" name="Text 37"/>
          <p:cNvSpPr txBox="1"/>
          <p:nvPr/>
        </p:nvSpPr>
        <p:spPr>
          <a:xfrm>
            <a:off x="3469234" y="4535424"/>
            <a:ext cx="1170432" cy="420624"/>
          </a:xfrm>
          <a:prstGeom prst="rect">
            <a:avLst/>
          </a:prstGeom>
          <a:noFill/>
          <a:ln/>
        </p:spPr>
        <p:txBody>
          <a:bodyPr wrap="square" lIns="0" tIns="0" rIns="0" bIns="0" rtlCol="0" anchor="ctr"/>
          <a:lstStyle/>
          <a:p>
            <a:pPr marL="0" indent="0" algn="ctr">
              <a:buNone/>
            </a:pPr>
            <a:r>
              <a:rPr lang="en-US" sz="1050" b="1" dirty="0">
                <a:solidFill>
                  <a:srgbClr val="990011"/>
                </a:solidFill>
                <a:latin typeface="Calibri" pitchFamily="34" charset="0"/>
                <a:ea typeface="Calibri" pitchFamily="34" charset="-122"/>
                <a:cs typeface="Calibri" pitchFamily="34" charset="-120"/>
              </a:rPr>
              <a:t>Windows / Linux</a:t>
            </a:r>
            <a:endParaRPr lang="en-US" sz="1050" dirty="0"/>
          </a:p>
        </p:txBody>
      </p:sp>
      <p:sp>
        <p:nvSpPr>
          <p:cNvPr id="40" name="Shape 38"/>
          <p:cNvSpPr/>
          <p:nvPr/>
        </p:nvSpPr>
        <p:spPr>
          <a:xfrm>
            <a:off x="4767682" y="4535424"/>
            <a:ext cx="1236269" cy="420624"/>
          </a:xfrm>
          <a:prstGeom prst="roundRect">
            <a:avLst>
              <a:gd name="adj" fmla="val 21739"/>
            </a:avLst>
          </a:prstGeom>
          <a:solidFill>
            <a:srgbClr val="FBEAEC"/>
          </a:solidFill>
          <a:ln w="12700">
            <a:solidFill>
              <a:srgbClr val="F0D4D8"/>
            </a:solidFill>
            <a:prstDash val="solid"/>
          </a:ln>
        </p:spPr>
      </p:sp>
      <p:sp>
        <p:nvSpPr>
          <p:cNvPr id="41" name="Text 39"/>
          <p:cNvSpPr txBox="1"/>
          <p:nvPr/>
        </p:nvSpPr>
        <p:spPr>
          <a:xfrm>
            <a:off x="4767682" y="4535424"/>
            <a:ext cx="1236269" cy="420624"/>
          </a:xfrm>
          <a:prstGeom prst="rect">
            <a:avLst/>
          </a:prstGeom>
          <a:noFill/>
          <a:ln/>
        </p:spPr>
        <p:txBody>
          <a:bodyPr wrap="square" lIns="0" tIns="0" rIns="0" bIns="0" rtlCol="0" anchor="ctr"/>
          <a:lstStyle/>
          <a:p>
            <a:pPr marL="0" indent="0" algn="ctr">
              <a:buNone/>
            </a:pPr>
            <a:r>
              <a:rPr lang="en-US" sz="1050" b="1" dirty="0">
                <a:solidFill>
                  <a:srgbClr val="990011"/>
                </a:solidFill>
                <a:latin typeface="Calibri" pitchFamily="34" charset="0"/>
                <a:ea typeface="Calibri" pitchFamily="34" charset="-122"/>
                <a:cs typeface="Calibri" pitchFamily="34" charset="-120"/>
              </a:rPr>
              <a:t>Local web server</a:t>
            </a:r>
            <a:endParaRPr lang="en-US" sz="1050" dirty="0"/>
          </a:p>
        </p:txBody>
      </p:sp>
      <p:sp>
        <p:nvSpPr>
          <p:cNvPr id="42" name="Text 40"/>
          <p:cNvSpPr txBox="1"/>
          <p:nvPr/>
        </p:nvSpPr>
        <p:spPr>
          <a:xfrm>
            <a:off x="7178040" y="4297680"/>
            <a:ext cx="4297680" cy="896112"/>
          </a:xfrm>
          <a:prstGeom prst="rect">
            <a:avLst/>
          </a:prstGeom>
          <a:noFill/>
          <a:ln/>
        </p:spPr>
        <p:txBody>
          <a:bodyPr wrap="square" lIns="0" tIns="0" rIns="0" bIns="0" rtlCol="0" anchor="ctr"/>
          <a:lstStyle/>
          <a:p>
            <a:pPr marL="0" indent="0">
              <a:lnSpc>
                <a:spcPct val="115000"/>
              </a:lnSpc>
              <a:buNone/>
            </a:pPr>
            <a:r>
              <a:rPr lang="en-US" sz="1150" dirty="0">
                <a:solidFill>
                  <a:srgbClr val="555566"/>
                </a:solidFill>
                <a:latin typeface="Calibri" pitchFamily="34" charset="0"/>
                <a:ea typeface="Calibri" pitchFamily="34" charset="-122"/>
                <a:cs typeface="Calibri" pitchFamily="34" charset="-120"/>
              </a:rPr>
              <a:t>Development, testing and deployment on the institution network</a:t>
            </a:r>
            <a:endParaRPr lang="en-US" sz="1150" dirty="0"/>
          </a:p>
        </p:txBody>
      </p:sp>
      <p:sp>
        <p:nvSpPr>
          <p:cNvPr id="43" name="Shape 41"/>
          <p:cNvSpPr/>
          <p:nvPr/>
        </p:nvSpPr>
        <p:spPr>
          <a:xfrm>
            <a:off x="548640" y="5303520"/>
            <a:ext cx="11091672" cy="896112"/>
          </a:xfrm>
          <a:prstGeom prst="roundRect">
            <a:avLst>
              <a:gd name="adj" fmla="val 8163"/>
            </a:avLst>
          </a:prstGeom>
          <a:solidFill>
            <a:srgbClr val="FFFFFF"/>
          </a:solidFill>
          <a:ln w="12700">
            <a:solidFill>
              <a:srgbClr val="E0E0E6"/>
            </a:solidFill>
            <a:prstDash val="solid"/>
          </a:ln>
          <a:effectLst>
            <a:outerShdw blurRad="101600" dist="25400" dir="5400000" algn="bl" rotWithShape="0">
              <a:srgbClr val="9AA0B5">
                <a:alpha val="25000"/>
              </a:srgbClr>
            </a:outerShdw>
          </a:effectLst>
        </p:spPr>
      </p:sp>
      <p:sp>
        <p:nvSpPr>
          <p:cNvPr id="44" name="Shape 42"/>
          <p:cNvSpPr/>
          <p:nvPr/>
        </p:nvSpPr>
        <p:spPr>
          <a:xfrm>
            <a:off x="777240" y="5522976"/>
            <a:ext cx="1691640" cy="457200"/>
          </a:xfrm>
          <a:prstGeom prst="roundRect">
            <a:avLst>
              <a:gd name="adj" fmla="val 16000"/>
            </a:avLst>
          </a:prstGeom>
          <a:solidFill>
            <a:srgbClr val="2F3C7E"/>
          </a:solidFill>
          <a:ln/>
        </p:spPr>
      </p:sp>
      <p:sp>
        <p:nvSpPr>
          <p:cNvPr id="45" name="Text 43"/>
          <p:cNvSpPr txBox="1"/>
          <p:nvPr/>
        </p:nvSpPr>
        <p:spPr>
          <a:xfrm>
            <a:off x="777240" y="5522976"/>
            <a:ext cx="1691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Hardware</a:t>
            </a:r>
            <a:endParaRPr lang="en-US" sz="1250" dirty="0"/>
          </a:p>
        </p:txBody>
      </p:sp>
      <p:sp>
        <p:nvSpPr>
          <p:cNvPr id="46" name="Shape 44"/>
          <p:cNvSpPr/>
          <p:nvPr/>
        </p:nvSpPr>
        <p:spPr>
          <a:xfrm>
            <a:off x="2697480" y="5541264"/>
            <a:ext cx="907085" cy="420624"/>
          </a:xfrm>
          <a:prstGeom prst="roundRect">
            <a:avLst>
              <a:gd name="adj" fmla="val 21739"/>
            </a:avLst>
          </a:prstGeom>
          <a:solidFill>
            <a:srgbClr val="EDEFF7"/>
          </a:solidFill>
          <a:ln w="12700">
            <a:solidFill>
              <a:srgbClr val="D2D8EC"/>
            </a:solidFill>
            <a:prstDash val="solid"/>
          </a:ln>
        </p:spPr>
      </p:sp>
      <p:sp>
        <p:nvSpPr>
          <p:cNvPr id="47" name="Text 45"/>
          <p:cNvSpPr txBox="1"/>
          <p:nvPr/>
        </p:nvSpPr>
        <p:spPr>
          <a:xfrm>
            <a:off x="2697480" y="5541264"/>
            <a:ext cx="907085" cy="420624"/>
          </a:xfrm>
          <a:prstGeom prst="rect">
            <a:avLst/>
          </a:prstGeom>
          <a:noFill/>
          <a:ln/>
        </p:spPr>
        <p:txBody>
          <a:bodyPr wrap="square" lIns="0" tIns="0" rIns="0" bIns="0" rtlCol="0" anchor="ctr"/>
          <a:lstStyle/>
          <a:p>
            <a:pPr marL="0" indent="0" algn="ctr">
              <a:buNone/>
            </a:pPr>
            <a:r>
              <a:rPr lang="en-US" sz="1050" b="1" dirty="0">
                <a:solidFill>
                  <a:srgbClr val="2F3C7E"/>
                </a:solidFill>
                <a:latin typeface="Calibri" pitchFamily="34" charset="0"/>
                <a:ea typeface="Calibri" pitchFamily="34" charset="-122"/>
                <a:cs typeface="Calibri" pitchFamily="34" charset="-120"/>
              </a:rPr>
              <a:t>720p Webcam</a:t>
            </a:r>
            <a:endParaRPr lang="en-US" sz="1050" dirty="0"/>
          </a:p>
        </p:txBody>
      </p:sp>
      <p:sp>
        <p:nvSpPr>
          <p:cNvPr id="48" name="Shape 46"/>
          <p:cNvSpPr/>
          <p:nvPr/>
        </p:nvSpPr>
        <p:spPr>
          <a:xfrm>
            <a:off x="3732581" y="5541264"/>
            <a:ext cx="1038758" cy="420624"/>
          </a:xfrm>
          <a:prstGeom prst="roundRect">
            <a:avLst>
              <a:gd name="adj" fmla="val 21739"/>
            </a:avLst>
          </a:prstGeom>
          <a:solidFill>
            <a:srgbClr val="EDEFF7"/>
          </a:solidFill>
          <a:ln w="12700">
            <a:solidFill>
              <a:srgbClr val="D2D8EC"/>
            </a:solidFill>
            <a:prstDash val="solid"/>
          </a:ln>
        </p:spPr>
      </p:sp>
      <p:sp>
        <p:nvSpPr>
          <p:cNvPr id="49" name="Text 47"/>
          <p:cNvSpPr txBox="1"/>
          <p:nvPr/>
        </p:nvSpPr>
        <p:spPr>
          <a:xfrm>
            <a:off x="3732581" y="5541264"/>
            <a:ext cx="1038758" cy="420624"/>
          </a:xfrm>
          <a:prstGeom prst="rect">
            <a:avLst/>
          </a:prstGeom>
          <a:noFill/>
          <a:ln/>
        </p:spPr>
        <p:txBody>
          <a:bodyPr wrap="square" lIns="0" tIns="0" rIns="0" bIns="0" rtlCol="0" anchor="ctr"/>
          <a:lstStyle/>
          <a:p>
            <a:pPr marL="0" indent="0" algn="ctr">
              <a:buNone/>
            </a:pPr>
            <a:r>
              <a:rPr lang="en-US" sz="1050" b="1" dirty="0">
                <a:solidFill>
                  <a:srgbClr val="2F3C7E"/>
                </a:solidFill>
                <a:latin typeface="Calibri" pitchFamily="34" charset="0"/>
                <a:ea typeface="Calibri" pitchFamily="34" charset="-122"/>
                <a:cs typeface="Calibri" pitchFamily="34" charset="-120"/>
              </a:rPr>
              <a:t>Dual-core CPU</a:t>
            </a:r>
            <a:endParaRPr lang="en-US" sz="1050" dirty="0"/>
          </a:p>
        </p:txBody>
      </p:sp>
      <p:sp>
        <p:nvSpPr>
          <p:cNvPr id="50" name="Shape 48"/>
          <p:cNvSpPr/>
          <p:nvPr/>
        </p:nvSpPr>
        <p:spPr>
          <a:xfrm>
            <a:off x="4899355" y="5541264"/>
            <a:ext cx="709574" cy="420624"/>
          </a:xfrm>
          <a:prstGeom prst="roundRect">
            <a:avLst>
              <a:gd name="adj" fmla="val 21739"/>
            </a:avLst>
          </a:prstGeom>
          <a:solidFill>
            <a:srgbClr val="EDEFF7"/>
          </a:solidFill>
          <a:ln w="12700">
            <a:solidFill>
              <a:srgbClr val="D2D8EC"/>
            </a:solidFill>
            <a:prstDash val="solid"/>
          </a:ln>
        </p:spPr>
      </p:sp>
      <p:sp>
        <p:nvSpPr>
          <p:cNvPr id="51" name="Text 49"/>
          <p:cNvSpPr txBox="1"/>
          <p:nvPr/>
        </p:nvSpPr>
        <p:spPr>
          <a:xfrm>
            <a:off x="4899355" y="5541264"/>
            <a:ext cx="709574" cy="420624"/>
          </a:xfrm>
          <a:prstGeom prst="rect">
            <a:avLst/>
          </a:prstGeom>
          <a:noFill/>
          <a:ln/>
        </p:spPr>
        <p:txBody>
          <a:bodyPr wrap="square" lIns="0" tIns="0" rIns="0" bIns="0" rtlCol="0" anchor="ctr"/>
          <a:lstStyle/>
          <a:p>
            <a:pPr marL="0" indent="0" algn="ctr">
              <a:buNone/>
            </a:pPr>
            <a:r>
              <a:rPr lang="en-US" sz="1050" b="1" dirty="0">
                <a:solidFill>
                  <a:srgbClr val="2F3C7E"/>
                </a:solidFill>
                <a:latin typeface="Calibri" pitchFamily="34" charset="0"/>
                <a:ea typeface="Calibri" pitchFamily="34" charset="-122"/>
                <a:cs typeface="Calibri" pitchFamily="34" charset="-120"/>
              </a:rPr>
              <a:t>4 GB RAM</a:t>
            </a:r>
            <a:endParaRPr lang="en-US" sz="1050" dirty="0"/>
          </a:p>
        </p:txBody>
      </p:sp>
      <p:sp>
        <p:nvSpPr>
          <p:cNvPr id="52" name="Shape 50"/>
          <p:cNvSpPr/>
          <p:nvPr/>
        </p:nvSpPr>
        <p:spPr>
          <a:xfrm>
            <a:off x="5736946" y="5541264"/>
            <a:ext cx="1038758" cy="420624"/>
          </a:xfrm>
          <a:prstGeom prst="roundRect">
            <a:avLst>
              <a:gd name="adj" fmla="val 21739"/>
            </a:avLst>
          </a:prstGeom>
          <a:solidFill>
            <a:srgbClr val="EDEFF7"/>
          </a:solidFill>
          <a:ln w="12700">
            <a:solidFill>
              <a:srgbClr val="D2D8EC"/>
            </a:solidFill>
            <a:prstDash val="solid"/>
          </a:ln>
        </p:spPr>
      </p:sp>
      <p:sp>
        <p:nvSpPr>
          <p:cNvPr id="53" name="Text 51"/>
          <p:cNvSpPr txBox="1"/>
          <p:nvPr/>
        </p:nvSpPr>
        <p:spPr>
          <a:xfrm>
            <a:off x="5736946" y="5541264"/>
            <a:ext cx="1038758" cy="420624"/>
          </a:xfrm>
          <a:prstGeom prst="rect">
            <a:avLst/>
          </a:prstGeom>
          <a:noFill/>
          <a:ln/>
        </p:spPr>
        <p:txBody>
          <a:bodyPr wrap="square" lIns="0" tIns="0" rIns="0" bIns="0" rtlCol="0" anchor="ctr"/>
          <a:lstStyle/>
          <a:p>
            <a:pPr marL="0" indent="0" algn="ctr">
              <a:buNone/>
            </a:pPr>
            <a:r>
              <a:rPr lang="en-US" sz="1050" b="1" dirty="0">
                <a:solidFill>
                  <a:srgbClr val="2F3C7E"/>
                </a:solidFill>
                <a:latin typeface="Calibri" pitchFamily="34" charset="0"/>
                <a:ea typeface="Calibri" pitchFamily="34" charset="-122"/>
                <a:cs typeface="Calibri" pitchFamily="34" charset="-120"/>
              </a:rPr>
              <a:t>10 GB storage</a:t>
            </a:r>
            <a:endParaRPr lang="en-US" sz="1050" dirty="0"/>
          </a:p>
        </p:txBody>
      </p:sp>
      <p:sp>
        <p:nvSpPr>
          <p:cNvPr id="54" name="Text 52"/>
          <p:cNvSpPr txBox="1"/>
          <p:nvPr/>
        </p:nvSpPr>
        <p:spPr>
          <a:xfrm>
            <a:off x="7178040" y="5303520"/>
            <a:ext cx="4297680" cy="896112"/>
          </a:xfrm>
          <a:prstGeom prst="rect">
            <a:avLst/>
          </a:prstGeom>
          <a:noFill/>
          <a:ln/>
        </p:spPr>
        <p:txBody>
          <a:bodyPr wrap="square" lIns="0" tIns="0" rIns="0" bIns="0" rtlCol="0" anchor="ctr"/>
          <a:lstStyle/>
          <a:p>
            <a:pPr marL="0" indent="0">
              <a:lnSpc>
                <a:spcPct val="115000"/>
              </a:lnSpc>
              <a:buNone/>
            </a:pPr>
            <a:r>
              <a:rPr lang="en-US" sz="1150" dirty="0">
                <a:solidFill>
                  <a:srgbClr val="555566"/>
                </a:solidFill>
                <a:latin typeface="Calibri" pitchFamily="34" charset="0"/>
                <a:ea typeface="Calibri" pitchFamily="34" charset="-122"/>
                <a:cs typeface="Calibri" pitchFamily="34" charset="-120"/>
              </a:rPr>
              <a:t>Minimum viable configuration for real-time capture and matching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20624"/>
            <a:ext cx="475488" cy="475488"/>
          </a:xfrm>
          <a:prstGeom prst="ellipse">
            <a:avLst/>
          </a:prstGeom>
          <a:solidFill>
            <a:srgbClr val="990011"/>
          </a:solidFill>
          <a:ln/>
        </p:spPr>
      </p:sp>
      <p:sp>
        <p:nvSpPr>
          <p:cNvPr id="3" name="Text 1"/>
          <p:cNvSpPr txBox="1"/>
          <p:nvPr/>
        </p:nvSpPr>
        <p:spPr>
          <a:xfrm>
            <a:off x="548640" y="420624"/>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170432" y="384048"/>
            <a:ext cx="10424160" cy="548640"/>
          </a:xfrm>
          <a:prstGeom prst="rect">
            <a:avLst/>
          </a:prstGeom>
          <a:noFill/>
          <a:ln/>
        </p:spPr>
        <p:txBody>
          <a:bodyPr wrap="square" lIns="0" tIns="0" rIns="0" bIns="0" rtlCol="0" anchor="ctr"/>
          <a:lstStyle/>
          <a:p>
            <a:pPr marL="0" indent="0">
              <a:buNone/>
            </a:pPr>
            <a:r>
              <a:rPr lang="en-US" sz="3400" b="1" dirty="0">
                <a:solidFill>
                  <a:srgbClr val="2F3C7E"/>
                </a:solidFill>
                <a:latin typeface="Cambria" pitchFamily="34" charset="0"/>
                <a:ea typeface="Cambria" pitchFamily="34" charset="-122"/>
                <a:cs typeface="Cambria" pitchFamily="34" charset="-120"/>
              </a:rPr>
              <a:t>BASIC ARCHITECTURE</a:t>
            </a:r>
            <a:endParaRPr lang="en-US" sz="3400" dirty="0"/>
          </a:p>
        </p:txBody>
      </p:sp>
      <p:sp>
        <p:nvSpPr>
          <p:cNvPr id="5" name="Shape 3"/>
          <p:cNvSpPr/>
          <p:nvPr/>
        </p:nvSpPr>
        <p:spPr>
          <a:xfrm>
            <a:off x="548640" y="1325880"/>
            <a:ext cx="1417320" cy="1051560"/>
          </a:xfrm>
          <a:prstGeom prst="roundRect">
            <a:avLst>
              <a:gd name="adj" fmla="val 6957"/>
            </a:avLst>
          </a:prstGeom>
          <a:solidFill>
            <a:srgbClr val="2F3C7E"/>
          </a:solidFill>
          <a:ln/>
        </p:spPr>
      </p:sp>
      <p:sp>
        <p:nvSpPr>
          <p:cNvPr id="6" name="Text 4"/>
          <p:cNvSpPr txBox="1"/>
          <p:nvPr/>
        </p:nvSpPr>
        <p:spPr>
          <a:xfrm>
            <a:off x="548640" y="1325880"/>
            <a:ext cx="1417320" cy="105156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PRESENTATION</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LAYER</a:t>
            </a:r>
            <a:endParaRPr lang="en-US" sz="1150" dirty="0"/>
          </a:p>
        </p:txBody>
      </p:sp>
      <p:sp>
        <p:nvSpPr>
          <p:cNvPr id="7" name="Shape 5"/>
          <p:cNvSpPr/>
          <p:nvPr/>
        </p:nvSpPr>
        <p:spPr>
          <a:xfrm>
            <a:off x="2148840" y="1325880"/>
            <a:ext cx="3017520" cy="1051560"/>
          </a:xfrm>
          <a:prstGeom prst="roundRect">
            <a:avLst>
              <a:gd name="adj" fmla="val 6957"/>
            </a:avLst>
          </a:prstGeom>
          <a:solidFill>
            <a:srgbClr val="FFFFFF"/>
          </a:solidFill>
          <a:ln w="12700">
            <a:solidFill>
              <a:srgbClr val="D2D8EC"/>
            </a:solidFill>
            <a:prstDash val="solid"/>
          </a:ln>
          <a:effectLst>
            <a:outerShdw blurRad="101600" dist="25400" dir="5400000" algn="bl" rotWithShape="0">
              <a:srgbClr val="9AA0B5">
                <a:alpha val="25000"/>
              </a:srgbClr>
            </a:outerShdw>
          </a:effectLst>
        </p:spPr>
      </p:sp>
      <p:sp>
        <p:nvSpPr>
          <p:cNvPr id="8" name="Text 6"/>
          <p:cNvSpPr txBox="1"/>
          <p:nvPr/>
        </p:nvSpPr>
        <p:spPr>
          <a:xfrm>
            <a:off x="2258568" y="1490472"/>
            <a:ext cx="2798064" cy="320040"/>
          </a:xfrm>
          <a:prstGeom prst="rect">
            <a:avLst/>
          </a:prstGeom>
          <a:noFill/>
          <a:ln/>
        </p:spPr>
        <p:txBody>
          <a:bodyPr wrap="square" lIns="0" tIns="0" rIns="0" bIns="0" rtlCol="0" anchor="ctr"/>
          <a:lstStyle/>
          <a:p>
            <a:pPr marL="0" indent="0" algn="ctr">
              <a:buNone/>
            </a:pPr>
            <a:r>
              <a:rPr lang="en-US" sz="1350" b="1" dirty="0">
                <a:solidFill>
                  <a:srgbClr val="2F3C7E"/>
                </a:solidFill>
                <a:latin typeface="Cambria" pitchFamily="34" charset="0"/>
                <a:ea typeface="Cambria" pitchFamily="34" charset="-122"/>
                <a:cs typeface="Cambria" pitchFamily="34" charset="-120"/>
              </a:rPr>
              <a:t>Login / Enrolment</a:t>
            </a:r>
            <a:endParaRPr lang="en-US" sz="1350" dirty="0"/>
          </a:p>
        </p:txBody>
      </p:sp>
      <p:sp>
        <p:nvSpPr>
          <p:cNvPr id="9" name="Text 7"/>
          <p:cNvSpPr txBox="1"/>
          <p:nvPr/>
        </p:nvSpPr>
        <p:spPr>
          <a:xfrm>
            <a:off x="2258568" y="1828800"/>
            <a:ext cx="279806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Dept, section, roll no</a:t>
            </a:r>
            <a:endParaRPr lang="en-US" sz="1050" dirty="0"/>
          </a:p>
        </p:txBody>
      </p:sp>
      <p:sp>
        <p:nvSpPr>
          <p:cNvPr id="10" name="Shape 8"/>
          <p:cNvSpPr/>
          <p:nvPr/>
        </p:nvSpPr>
        <p:spPr>
          <a:xfrm>
            <a:off x="5367528" y="1325880"/>
            <a:ext cx="3017520" cy="1051560"/>
          </a:xfrm>
          <a:prstGeom prst="roundRect">
            <a:avLst>
              <a:gd name="adj" fmla="val 6957"/>
            </a:avLst>
          </a:prstGeom>
          <a:solidFill>
            <a:srgbClr val="FFFFFF"/>
          </a:solidFill>
          <a:ln w="12700">
            <a:solidFill>
              <a:srgbClr val="D2D8EC"/>
            </a:solidFill>
            <a:prstDash val="solid"/>
          </a:ln>
          <a:effectLst>
            <a:outerShdw blurRad="101600" dist="25400" dir="5400000" algn="bl" rotWithShape="0">
              <a:srgbClr val="9AA0B5">
                <a:alpha val="25000"/>
              </a:srgbClr>
            </a:outerShdw>
          </a:effectLst>
        </p:spPr>
      </p:sp>
      <p:sp>
        <p:nvSpPr>
          <p:cNvPr id="11" name="Text 9"/>
          <p:cNvSpPr txBox="1"/>
          <p:nvPr/>
        </p:nvSpPr>
        <p:spPr>
          <a:xfrm>
            <a:off x="5477256" y="1490472"/>
            <a:ext cx="2798064" cy="320040"/>
          </a:xfrm>
          <a:prstGeom prst="rect">
            <a:avLst/>
          </a:prstGeom>
          <a:noFill/>
          <a:ln/>
        </p:spPr>
        <p:txBody>
          <a:bodyPr wrap="square" lIns="0" tIns="0" rIns="0" bIns="0" rtlCol="0" anchor="ctr"/>
          <a:lstStyle/>
          <a:p>
            <a:pPr marL="0" indent="0" algn="ctr">
              <a:buNone/>
            </a:pPr>
            <a:r>
              <a:rPr lang="en-US" sz="1350" b="1" dirty="0">
                <a:solidFill>
                  <a:srgbClr val="2F3C7E"/>
                </a:solidFill>
                <a:latin typeface="Cambria" pitchFamily="34" charset="0"/>
                <a:ea typeface="Cambria" pitchFamily="34" charset="-122"/>
                <a:cs typeface="Cambria" pitchFamily="34" charset="-120"/>
              </a:rPr>
              <a:t>Live Camera Feed</a:t>
            </a:r>
            <a:endParaRPr lang="en-US" sz="1350" dirty="0"/>
          </a:p>
        </p:txBody>
      </p:sp>
      <p:sp>
        <p:nvSpPr>
          <p:cNvPr id="12" name="Text 10"/>
          <p:cNvSpPr txBox="1"/>
          <p:nvPr/>
        </p:nvSpPr>
        <p:spPr>
          <a:xfrm>
            <a:off x="5477256" y="1828800"/>
            <a:ext cx="279806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Webcam frame capture</a:t>
            </a:r>
            <a:endParaRPr lang="en-US" sz="1050" dirty="0"/>
          </a:p>
        </p:txBody>
      </p:sp>
      <p:sp>
        <p:nvSpPr>
          <p:cNvPr id="13" name="Shape 11"/>
          <p:cNvSpPr/>
          <p:nvPr/>
        </p:nvSpPr>
        <p:spPr>
          <a:xfrm>
            <a:off x="8586216" y="1325880"/>
            <a:ext cx="3017520" cy="1051560"/>
          </a:xfrm>
          <a:prstGeom prst="roundRect">
            <a:avLst>
              <a:gd name="adj" fmla="val 6957"/>
            </a:avLst>
          </a:prstGeom>
          <a:solidFill>
            <a:srgbClr val="FFFFFF"/>
          </a:solidFill>
          <a:ln w="12700">
            <a:solidFill>
              <a:srgbClr val="D2D8EC"/>
            </a:solidFill>
            <a:prstDash val="solid"/>
          </a:ln>
          <a:effectLst>
            <a:outerShdw blurRad="101600" dist="25400" dir="5400000" algn="bl" rotWithShape="0">
              <a:srgbClr val="9AA0B5">
                <a:alpha val="25000"/>
              </a:srgbClr>
            </a:outerShdw>
          </a:effectLst>
        </p:spPr>
      </p:sp>
      <p:sp>
        <p:nvSpPr>
          <p:cNvPr id="14" name="Text 12"/>
          <p:cNvSpPr txBox="1"/>
          <p:nvPr/>
        </p:nvSpPr>
        <p:spPr>
          <a:xfrm>
            <a:off x="8695944" y="1490472"/>
            <a:ext cx="2798064" cy="320040"/>
          </a:xfrm>
          <a:prstGeom prst="rect">
            <a:avLst/>
          </a:prstGeom>
          <a:noFill/>
          <a:ln/>
        </p:spPr>
        <p:txBody>
          <a:bodyPr wrap="square" lIns="0" tIns="0" rIns="0" bIns="0" rtlCol="0" anchor="ctr"/>
          <a:lstStyle/>
          <a:p>
            <a:pPr marL="0" indent="0" algn="ctr">
              <a:buNone/>
            </a:pPr>
            <a:r>
              <a:rPr lang="en-US" sz="1350" b="1" dirty="0">
                <a:solidFill>
                  <a:srgbClr val="2F3C7E"/>
                </a:solidFill>
                <a:latin typeface="Cambria" pitchFamily="34" charset="0"/>
                <a:ea typeface="Cambria" pitchFamily="34" charset="-122"/>
                <a:cs typeface="Cambria" pitchFamily="34" charset="-120"/>
              </a:rPr>
              <a:t>Status Display</a:t>
            </a:r>
            <a:endParaRPr lang="en-US" sz="1350" dirty="0"/>
          </a:p>
        </p:txBody>
      </p:sp>
      <p:sp>
        <p:nvSpPr>
          <p:cNvPr id="15" name="Text 13"/>
          <p:cNvSpPr txBox="1"/>
          <p:nvPr/>
        </p:nvSpPr>
        <p:spPr>
          <a:xfrm>
            <a:off x="8695944" y="1828800"/>
            <a:ext cx="279806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Success or mismatch</a:t>
            </a:r>
            <a:endParaRPr lang="en-US" sz="1050" dirty="0"/>
          </a:p>
        </p:txBody>
      </p:sp>
      <p:sp>
        <p:nvSpPr>
          <p:cNvPr id="16" name="Shape 14"/>
          <p:cNvSpPr/>
          <p:nvPr/>
        </p:nvSpPr>
        <p:spPr>
          <a:xfrm>
            <a:off x="6858000" y="2450592"/>
            <a:ext cx="0" cy="493776"/>
          </a:xfrm>
          <a:prstGeom prst="line">
            <a:avLst/>
          </a:prstGeom>
          <a:noFill/>
          <a:ln w="25400">
            <a:solidFill>
              <a:srgbClr val="990011"/>
            </a:solidFill>
            <a:prstDash val="solid"/>
            <a:tailEnd type="triangle"/>
          </a:ln>
        </p:spPr>
      </p:sp>
      <p:sp>
        <p:nvSpPr>
          <p:cNvPr id="17" name="Text 15"/>
          <p:cNvSpPr txBox="1"/>
          <p:nvPr/>
        </p:nvSpPr>
        <p:spPr>
          <a:xfrm>
            <a:off x="6995160" y="2542032"/>
            <a:ext cx="2926080" cy="274320"/>
          </a:xfrm>
          <a:prstGeom prst="rect">
            <a:avLst/>
          </a:prstGeom>
          <a:noFill/>
          <a:ln/>
        </p:spPr>
        <p:txBody>
          <a:bodyPr wrap="square" lIns="0" tIns="0" rIns="0" bIns="0" rtlCol="0" anchor="ctr"/>
          <a:lstStyle/>
          <a:p>
            <a:pPr marL="0" indent="0">
              <a:buNone/>
            </a:pPr>
            <a:r>
              <a:rPr lang="en-US" sz="1050" i="1" dirty="0">
                <a:solidFill>
                  <a:srgbClr val="990011"/>
                </a:solidFill>
                <a:latin typeface="Calibri" pitchFamily="34" charset="0"/>
                <a:ea typeface="Calibri" pitchFamily="34" charset="-122"/>
                <a:cs typeface="Calibri" pitchFamily="34" charset="-120"/>
              </a:rPr>
              <a:t>credentials + captured frame</a:t>
            </a:r>
            <a:endParaRPr lang="en-US" sz="1050" dirty="0"/>
          </a:p>
        </p:txBody>
      </p:sp>
      <p:sp>
        <p:nvSpPr>
          <p:cNvPr id="18" name="Shape 16"/>
          <p:cNvSpPr/>
          <p:nvPr/>
        </p:nvSpPr>
        <p:spPr>
          <a:xfrm>
            <a:off x="548640" y="2944368"/>
            <a:ext cx="1417320" cy="1051560"/>
          </a:xfrm>
          <a:prstGeom prst="roundRect">
            <a:avLst>
              <a:gd name="adj" fmla="val 6957"/>
            </a:avLst>
          </a:prstGeom>
          <a:solidFill>
            <a:srgbClr val="990011"/>
          </a:solidFill>
          <a:ln/>
        </p:spPr>
      </p:sp>
      <p:sp>
        <p:nvSpPr>
          <p:cNvPr id="19" name="Text 17"/>
          <p:cNvSpPr txBox="1"/>
          <p:nvPr/>
        </p:nvSpPr>
        <p:spPr>
          <a:xfrm>
            <a:off x="548640" y="2944368"/>
            <a:ext cx="1417320" cy="105156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APPLICATION</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LAYER</a:t>
            </a:r>
            <a:endParaRPr lang="en-US" sz="1150" dirty="0"/>
          </a:p>
        </p:txBody>
      </p:sp>
      <p:sp>
        <p:nvSpPr>
          <p:cNvPr id="20" name="Shape 18"/>
          <p:cNvSpPr/>
          <p:nvPr/>
        </p:nvSpPr>
        <p:spPr>
          <a:xfrm>
            <a:off x="2148840" y="2944368"/>
            <a:ext cx="2194560" cy="1051560"/>
          </a:xfrm>
          <a:prstGeom prst="roundRect">
            <a:avLst>
              <a:gd name="adj" fmla="val 6957"/>
            </a:avLst>
          </a:prstGeom>
          <a:solidFill>
            <a:srgbClr val="FBEAEC"/>
          </a:solidFill>
          <a:ln w="12700">
            <a:solidFill>
              <a:srgbClr val="F0D4D8"/>
            </a:solidFill>
            <a:prstDash val="solid"/>
          </a:ln>
          <a:effectLst>
            <a:outerShdw blurRad="101600" dist="25400" dir="5400000" algn="bl" rotWithShape="0">
              <a:srgbClr val="9AA0B5">
                <a:alpha val="25000"/>
              </a:srgbClr>
            </a:outerShdw>
          </a:effectLst>
        </p:spPr>
      </p:sp>
      <p:sp>
        <p:nvSpPr>
          <p:cNvPr id="21" name="Text 19"/>
          <p:cNvSpPr txBox="1"/>
          <p:nvPr/>
        </p:nvSpPr>
        <p:spPr>
          <a:xfrm>
            <a:off x="2258568" y="3108960"/>
            <a:ext cx="1975104" cy="320040"/>
          </a:xfrm>
          <a:prstGeom prst="rect">
            <a:avLst/>
          </a:prstGeom>
          <a:noFill/>
          <a:ln/>
        </p:spPr>
        <p:txBody>
          <a:bodyPr wrap="square" lIns="0" tIns="0" rIns="0" bIns="0" rtlCol="0" anchor="ctr"/>
          <a:lstStyle/>
          <a:p>
            <a:pPr marL="0" indent="0" algn="ctr">
              <a:buNone/>
            </a:pPr>
            <a:r>
              <a:rPr lang="en-US" sz="1350" b="1" dirty="0">
                <a:solidFill>
                  <a:srgbClr val="990011"/>
                </a:solidFill>
                <a:latin typeface="Cambria" pitchFamily="34" charset="0"/>
                <a:ea typeface="Cambria" pitchFamily="34" charset="-122"/>
                <a:cs typeface="Cambria" pitchFamily="34" charset="-120"/>
              </a:rPr>
              <a:t>Credential Check</a:t>
            </a:r>
            <a:endParaRPr lang="en-US" sz="1350" dirty="0"/>
          </a:p>
        </p:txBody>
      </p:sp>
      <p:sp>
        <p:nvSpPr>
          <p:cNvPr id="22" name="Text 20"/>
          <p:cNvSpPr txBox="1"/>
          <p:nvPr/>
        </p:nvSpPr>
        <p:spPr>
          <a:xfrm>
            <a:off x="2258568" y="3447288"/>
            <a:ext cx="197510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Validates roll number</a:t>
            </a:r>
            <a:endParaRPr lang="en-US" sz="1050" dirty="0"/>
          </a:p>
        </p:txBody>
      </p:sp>
      <p:sp>
        <p:nvSpPr>
          <p:cNvPr id="23" name="Shape 21"/>
          <p:cNvSpPr/>
          <p:nvPr/>
        </p:nvSpPr>
        <p:spPr>
          <a:xfrm>
            <a:off x="4544568" y="2944368"/>
            <a:ext cx="2194560" cy="1051560"/>
          </a:xfrm>
          <a:prstGeom prst="roundRect">
            <a:avLst>
              <a:gd name="adj" fmla="val 6957"/>
            </a:avLst>
          </a:prstGeom>
          <a:solidFill>
            <a:srgbClr val="FBEAEC"/>
          </a:solidFill>
          <a:ln w="12700">
            <a:solidFill>
              <a:srgbClr val="F0D4D8"/>
            </a:solidFill>
            <a:prstDash val="solid"/>
          </a:ln>
          <a:effectLst>
            <a:outerShdw blurRad="101600" dist="25400" dir="5400000" algn="bl" rotWithShape="0">
              <a:srgbClr val="9AA0B5">
                <a:alpha val="25000"/>
              </a:srgbClr>
            </a:outerShdw>
          </a:effectLst>
        </p:spPr>
      </p:sp>
      <p:sp>
        <p:nvSpPr>
          <p:cNvPr id="24" name="Text 22"/>
          <p:cNvSpPr txBox="1"/>
          <p:nvPr/>
        </p:nvSpPr>
        <p:spPr>
          <a:xfrm>
            <a:off x="4654296" y="3108960"/>
            <a:ext cx="1975104" cy="320040"/>
          </a:xfrm>
          <a:prstGeom prst="rect">
            <a:avLst/>
          </a:prstGeom>
          <a:noFill/>
          <a:ln/>
        </p:spPr>
        <p:txBody>
          <a:bodyPr wrap="square" lIns="0" tIns="0" rIns="0" bIns="0" rtlCol="0" anchor="ctr"/>
          <a:lstStyle/>
          <a:p>
            <a:pPr marL="0" indent="0" algn="ctr">
              <a:buNone/>
            </a:pPr>
            <a:r>
              <a:rPr lang="en-US" sz="1350" b="1" dirty="0">
                <a:solidFill>
                  <a:srgbClr val="990011"/>
                </a:solidFill>
                <a:latin typeface="Cambria" pitchFamily="34" charset="0"/>
                <a:ea typeface="Cambria" pitchFamily="34" charset="-122"/>
                <a:cs typeface="Cambria" pitchFamily="34" charset="-120"/>
              </a:rPr>
              <a:t>Face Detection</a:t>
            </a:r>
            <a:endParaRPr lang="en-US" sz="1350" dirty="0"/>
          </a:p>
        </p:txBody>
      </p:sp>
      <p:sp>
        <p:nvSpPr>
          <p:cNvPr id="25" name="Text 23"/>
          <p:cNvSpPr txBox="1"/>
          <p:nvPr/>
        </p:nvSpPr>
        <p:spPr>
          <a:xfrm>
            <a:off x="4654296" y="3447288"/>
            <a:ext cx="197510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Locates face in frame</a:t>
            </a:r>
            <a:endParaRPr lang="en-US" sz="1050" dirty="0"/>
          </a:p>
        </p:txBody>
      </p:sp>
      <p:sp>
        <p:nvSpPr>
          <p:cNvPr id="26" name="Shape 24"/>
          <p:cNvSpPr/>
          <p:nvPr/>
        </p:nvSpPr>
        <p:spPr>
          <a:xfrm>
            <a:off x="6940296" y="2944368"/>
            <a:ext cx="2194560" cy="1051560"/>
          </a:xfrm>
          <a:prstGeom prst="roundRect">
            <a:avLst>
              <a:gd name="adj" fmla="val 6957"/>
            </a:avLst>
          </a:prstGeom>
          <a:solidFill>
            <a:srgbClr val="FBEAEC"/>
          </a:solidFill>
          <a:ln w="12700">
            <a:solidFill>
              <a:srgbClr val="F0D4D8"/>
            </a:solidFill>
            <a:prstDash val="solid"/>
          </a:ln>
          <a:effectLst>
            <a:outerShdw blurRad="101600" dist="25400" dir="5400000" algn="bl" rotWithShape="0">
              <a:srgbClr val="9AA0B5">
                <a:alpha val="25000"/>
              </a:srgbClr>
            </a:outerShdw>
          </a:effectLst>
        </p:spPr>
      </p:sp>
      <p:sp>
        <p:nvSpPr>
          <p:cNvPr id="27" name="Text 25"/>
          <p:cNvSpPr txBox="1"/>
          <p:nvPr/>
        </p:nvSpPr>
        <p:spPr>
          <a:xfrm>
            <a:off x="7050024" y="3108960"/>
            <a:ext cx="1975104" cy="320040"/>
          </a:xfrm>
          <a:prstGeom prst="rect">
            <a:avLst/>
          </a:prstGeom>
          <a:noFill/>
          <a:ln/>
        </p:spPr>
        <p:txBody>
          <a:bodyPr wrap="square" lIns="0" tIns="0" rIns="0" bIns="0" rtlCol="0" anchor="ctr"/>
          <a:lstStyle/>
          <a:p>
            <a:pPr marL="0" indent="0" algn="ctr">
              <a:buNone/>
            </a:pPr>
            <a:r>
              <a:rPr lang="en-US" sz="1350" b="1" dirty="0">
                <a:solidFill>
                  <a:srgbClr val="990011"/>
                </a:solidFill>
                <a:latin typeface="Cambria" pitchFamily="34" charset="0"/>
                <a:ea typeface="Cambria" pitchFamily="34" charset="-122"/>
                <a:cs typeface="Cambria" pitchFamily="34" charset="-120"/>
              </a:rPr>
              <a:t>Feature Extraction</a:t>
            </a:r>
            <a:endParaRPr lang="en-US" sz="1350" dirty="0"/>
          </a:p>
        </p:txBody>
      </p:sp>
      <p:sp>
        <p:nvSpPr>
          <p:cNvPr id="28" name="Text 26"/>
          <p:cNvSpPr txBox="1"/>
          <p:nvPr/>
        </p:nvSpPr>
        <p:spPr>
          <a:xfrm>
            <a:off x="7050024" y="3447288"/>
            <a:ext cx="197510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Builds face vector</a:t>
            </a:r>
            <a:endParaRPr lang="en-US" sz="1050" dirty="0"/>
          </a:p>
        </p:txBody>
      </p:sp>
      <p:sp>
        <p:nvSpPr>
          <p:cNvPr id="29" name="Shape 27"/>
          <p:cNvSpPr/>
          <p:nvPr/>
        </p:nvSpPr>
        <p:spPr>
          <a:xfrm>
            <a:off x="9336024" y="2944368"/>
            <a:ext cx="2194560" cy="1051560"/>
          </a:xfrm>
          <a:prstGeom prst="roundRect">
            <a:avLst>
              <a:gd name="adj" fmla="val 6957"/>
            </a:avLst>
          </a:prstGeom>
          <a:solidFill>
            <a:srgbClr val="FBEAEC"/>
          </a:solidFill>
          <a:ln w="12700">
            <a:solidFill>
              <a:srgbClr val="F0D4D8"/>
            </a:solidFill>
            <a:prstDash val="solid"/>
          </a:ln>
          <a:effectLst>
            <a:outerShdw blurRad="101600" dist="25400" dir="5400000" algn="bl" rotWithShape="0">
              <a:srgbClr val="9AA0B5">
                <a:alpha val="25000"/>
              </a:srgbClr>
            </a:outerShdw>
          </a:effectLst>
        </p:spPr>
      </p:sp>
      <p:sp>
        <p:nvSpPr>
          <p:cNvPr id="30" name="Text 28"/>
          <p:cNvSpPr txBox="1"/>
          <p:nvPr/>
        </p:nvSpPr>
        <p:spPr>
          <a:xfrm>
            <a:off x="9445752" y="3108960"/>
            <a:ext cx="1975104" cy="320040"/>
          </a:xfrm>
          <a:prstGeom prst="rect">
            <a:avLst/>
          </a:prstGeom>
          <a:noFill/>
          <a:ln/>
        </p:spPr>
        <p:txBody>
          <a:bodyPr wrap="square" lIns="0" tIns="0" rIns="0" bIns="0" rtlCol="0" anchor="ctr"/>
          <a:lstStyle/>
          <a:p>
            <a:pPr marL="0" indent="0" algn="ctr">
              <a:buNone/>
            </a:pPr>
            <a:r>
              <a:rPr lang="en-US" sz="1350" b="1" dirty="0">
                <a:solidFill>
                  <a:srgbClr val="990011"/>
                </a:solidFill>
                <a:latin typeface="Cambria" pitchFamily="34" charset="0"/>
                <a:ea typeface="Cambria" pitchFamily="34" charset="-122"/>
                <a:cs typeface="Cambria" pitchFamily="34" charset="-120"/>
              </a:rPr>
              <a:t>Biometric Matcher</a:t>
            </a:r>
            <a:endParaRPr lang="en-US" sz="1350" dirty="0"/>
          </a:p>
        </p:txBody>
      </p:sp>
      <p:sp>
        <p:nvSpPr>
          <p:cNvPr id="31" name="Text 29"/>
          <p:cNvSpPr txBox="1"/>
          <p:nvPr/>
        </p:nvSpPr>
        <p:spPr>
          <a:xfrm>
            <a:off x="9445752" y="3447288"/>
            <a:ext cx="197510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Compares with stored</a:t>
            </a:r>
            <a:endParaRPr lang="en-US" sz="1050" dirty="0"/>
          </a:p>
        </p:txBody>
      </p:sp>
      <p:sp>
        <p:nvSpPr>
          <p:cNvPr id="32" name="Shape 30"/>
          <p:cNvSpPr/>
          <p:nvPr/>
        </p:nvSpPr>
        <p:spPr>
          <a:xfrm>
            <a:off x="6858000" y="4069080"/>
            <a:ext cx="0" cy="493776"/>
          </a:xfrm>
          <a:prstGeom prst="line">
            <a:avLst/>
          </a:prstGeom>
          <a:noFill/>
          <a:ln w="25400">
            <a:solidFill>
              <a:srgbClr val="2F3C7E"/>
            </a:solidFill>
            <a:prstDash val="solid"/>
            <a:tailEnd type="triangle"/>
          </a:ln>
        </p:spPr>
      </p:sp>
      <p:sp>
        <p:nvSpPr>
          <p:cNvPr id="33" name="Text 31"/>
          <p:cNvSpPr txBox="1"/>
          <p:nvPr/>
        </p:nvSpPr>
        <p:spPr>
          <a:xfrm>
            <a:off x="6995160" y="4160520"/>
            <a:ext cx="2926080" cy="274320"/>
          </a:xfrm>
          <a:prstGeom prst="rect">
            <a:avLst/>
          </a:prstGeom>
          <a:noFill/>
          <a:ln/>
        </p:spPr>
        <p:txBody>
          <a:bodyPr wrap="square" lIns="0" tIns="0" rIns="0" bIns="0" rtlCol="0" anchor="ctr"/>
          <a:lstStyle/>
          <a:p>
            <a:pPr marL="0" indent="0">
              <a:buNone/>
            </a:pPr>
            <a:r>
              <a:rPr lang="en-US" sz="1050" i="1" dirty="0">
                <a:solidFill>
                  <a:srgbClr val="2F3C7E"/>
                </a:solidFill>
                <a:latin typeface="Calibri" pitchFamily="34" charset="0"/>
                <a:ea typeface="Calibri" pitchFamily="34" charset="-122"/>
                <a:cs typeface="Calibri" pitchFamily="34" charset="-120"/>
              </a:rPr>
              <a:t>SQL read / write</a:t>
            </a:r>
            <a:endParaRPr lang="en-US" sz="1050" dirty="0"/>
          </a:p>
        </p:txBody>
      </p:sp>
      <p:sp>
        <p:nvSpPr>
          <p:cNvPr id="34" name="Shape 32"/>
          <p:cNvSpPr/>
          <p:nvPr/>
        </p:nvSpPr>
        <p:spPr>
          <a:xfrm>
            <a:off x="548640" y="4562856"/>
            <a:ext cx="1417320" cy="1051560"/>
          </a:xfrm>
          <a:prstGeom prst="roundRect">
            <a:avLst>
              <a:gd name="adj" fmla="val 6957"/>
            </a:avLst>
          </a:prstGeom>
          <a:solidFill>
            <a:srgbClr val="2F3C7E"/>
          </a:solidFill>
          <a:ln/>
        </p:spPr>
      </p:sp>
      <p:sp>
        <p:nvSpPr>
          <p:cNvPr id="35" name="Text 33"/>
          <p:cNvSpPr txBox="1"/>
          <p:nvPr/>
        </p:nvSpPr>
        <p:spPr>
          <a:xfrm>
            <a:off x="548640" y="4562856"/>
            <a:ext cx="1417320" cy="1051560"/>
          </a:xfrm>
          <a:prstGeom prst="rect">
            <a:avLst/>
          </a:prstGeom>
          <a:noFill/>
          <a:ln/>
        </p:spPr>
        <p:txBody>
          <a:bodyPr wrap="square" lIns="0" tIns="0" rIns="0" bIns="0" rtlCol="0" anchor="ctr"/>
          <a:lstStyle/>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DATABASE</a:t>
            </a:r>
            <a:endParaRPr lang="en-US" sz="1150" dirty="0"/>
          </a:p>
          <a:p>
            <a:pPr marL="0" indent="0" algn="ctr">
              <a:lnSpc>
                <a:spcPct val="110000"/>
              </a:lnSpc>
              <a:buNone/>
            </a:pPr>
            <a:r>
              <a:rPr lang="en-US" sz="1150" b="1" dirty="0">
                <a:solidFill>
                  <a:srgbClr val="FFFFFF"/>
                </a:solidFill>
                <a:latin typeface="Calibri" pitchFamily="34" charset="0"/>
                <a:ea typeface="Calibri" pitchFamily="34" charset="-122"/>
                <a:cs typeface="Calibri" pitchFamily="34" charset="-120"/>
              </a:rPr>
              <a:t>LAYER</a:t>
            </a:r>
            <a:endParaRPr lang="en-US" sz="1150" dirty="0"/>
          </a:p>
        </p:txBody>
      </p:sp>
      <p:sp>
        <p:nvSpPr>
          <p:cNvPr id="36" name="Shape 34"/>
          <p:cNvSpPr/>
          <p:nvPr/>
        </p:nvSpPr>
        <p:spPr>
          <a:xfrm>
            <a:off x="2148840" y="4562856"/>
            <a:ext cx="3017520" cy="1051560"/>
          </a:xfrm>
          <a:prstGeom prst="roundRect">
            <a:avLst>
              <a:gd name="adj" fmla="val 6957"/>
            </a:avLst>
          </a:prstGeom>
          <a:solidFill>
            <a:srgbClr val="EDEFF7"/>
          </a:solidFill>
          <a:ln w="12700">
            <a:solidFill>
              <a:srgbClr val="D2D8EC"/>
            </a:solidFill>
            <a:prstDash val="solid"/>
          </a:ln>
          <a:effectLst>
            <a:outerShdw blurRad="101600" dist="25400" dir="5400000" algn="bl" rotWithShape="0">
              <a:srgbClr val="9AA0B5">
                <a:alpha val="25000"/>
              </a:srgbClr>
            </a:outerShdw>
          </a:effectLst>
        </p:spPr>
      </p:sp>
      <p:sp>
        <p:nvSpPr>
          <p:cNvPr id="37" name="Text 35"/>
          <p:cNvSpPr txBox="1"/>
          <p:nvPr/>
        </p:nvSpPr>
        <p:spPr>
          <a:xfrm>
            <a:off x="2258568" y="4727448"/>
            <a:ext cx="2798064" cy="320040"/>
          </a:xfrm>
          <a:prstGeom prst="rect">
            <a:avLst/>
          </a:prstGeom>
          <a:noFill/>
          <a:ln/>
        </p:spPr>
        <p:txBody>
          <a:bodyPr wrap="square" lIns="0" tIns="0" rIns="0" bIns="0" rtlCol="0" anchor="ctr"/>
          <a:lstStyle/>
          <a:p>
            <a:pPr marL="0" indent="0" algn="ctr">
              <a:buNone/>
            </a:pPr>
            <a:r>
              <a:rPr lang="en-US" sz="1350" b="1" dirty="0">
                <a:solidFill>
                  <a:srgbClr val="2F3C7E"/>
                </a:solidFill>
                <a:latin typeface="Cambria" pitchFamily="34" charset="0"/>
                <a:ea typeface="Cambria" pitchFamily="34" charset="-122"/>
                <a:cs typeface="Cambria" pitchFamily="34" charset="-120"/>
              </a:rPr>
              <a:t>student_master</a:t>
            </a:r>
            <a:endParaRPr lang="en-US" sz="1350" dirty="0"/>
          </a:p>
        </p:txBody>
      </p:sp>
      <p:sp>
        <p:nvSpPr>
          <p:cNvPr id="38" name="Text 36"/>
          <p:cNvSpPr txBox="1"/>
          <p:nvPr/>
        </p:nvSpPr>
        <p:spPr>
          <a:xfrm>
            <a:off x="2258568" y="5065776"/>
            <a:ext cx="279806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roll_no (PK), name, dept, section</a:t>
            </a:r>
            <a:endParaRPr lang="en-US" sz="1050" dirty="0"/>
          </a:p>
        </p:txBody>
      </p:sp>
      <p:sp>
        <p:nvSpPr>
          <p:cNvPr id="39" name="Shape 37"/>
          <p:cNvSpPr/>
          <p:nvPr/>
        </p:nvSpPr>
        <p:spPr>
          <a:xfrm>
            <a:off x="5367528" y="4562856"/>
            <a:ext cx="3017520" cy="1051560"/>
          </a:xfrm>
          <a:prstGeom prst="roundRect">
            <a:avLst>
              <a:gd name="adj" fmla="val 6957"/>
            </a:avLst>
          </a:prstGeom>
          <a:solidFill>
            <a:srgbClr val="EDEFF7"/>
          </a:solidFill>
          <a:ln w="12700">
            <a:solidFill>
              <a:srgbClr val="D2D8EC"/>
            </a:solidFill>
            <a:prstDash val="solid"/>
          </a:ln>
          <a:effectLst>
            <a:outerShdw blurRad="101600" dist="25400" dir="5400000" algn="bl" rotWithShape="0">
              <a:srgbClr val="9AA0B5">
                <a:alpha val="25000"/>
              </a:srgbClr>
            </a:outerShdw>
          </a:effectLst>
        </p:spPr>
      </p:sp>
      <p:sp>
        <p:nvSpPr>
          <p:cNvPr id="40" name="Text 38"/>
          <p:cNvSpPr txBox="1"/>
          <p:nvPr/>
        </p:nvSpPr>
        <p:spPr>
          <a:xfrm>
            <a:off x="5477256" y="4727448"/>
            <a:ext cx="2798064" cy="320040"/>
          </a:xfrm>
          <a:prstGeom prst="rect">
            <a:avLst/>
          </a:prstGeom>
          <a:noFill/>
          <a:ln/>
        </p:spPr>
        <p:txBody>
          <a:bodyPr wrap="square" lIns="0" tIns="0" rIns="0" bIns="0" rtlCol="0" anchor="ctr"/>
          <a:lstStyle/>
          <a:p>
            <a:pPr marL="0" indent="0" algn="ctr">
              <a:buNone/>
            </a:pPr>
            <a:r>
              <a:rPr lang="en-US" sz="1350" b="1" dirty="0">
                <a:solidFill>
                  <a:srgbClr val="2F3C7E"/>
                </a:solidFill>
                <a:latin typeface="Cambria" pitchFamily="34" charset="0"/>
                <a:ea typeface="Cambria" pitchFamily="34" charset="-122"/>
                <a:cs typeface="Cambria" pitchFamily="34" charset="-120"/>
              </a:rPr>
              <a:t>face_vectors</a:t>
            </a:r>
            <a:endParaRPr lang="en-US" sz="1350" dirty="0"/>
          </a:p>
        </p:txBody>
      </p:sp>
      <p:sp>
        <p:nvSpPr>
          <p:cNvPr id="41" name="Text 39"/>
          <p:cNvSpPr txBox="1"/>
          <p:nvPr/>
        </p:nvSpPr>
        <p:spPr>
          <a:xfrm>
            <a:off x="5477256" y="5065776"/>
            <a:ext cx="279806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roll_no (FK), encoded vector</a:t>
            </a:r>
            <a:endParaRPr lang="en-US" sz="1050" dirty="0"/>
          </a:p>
        </p:txBody>
      </p:sp>
      <p:sp>
        <p:nvSpPr>
          <p:cNvPr id="42" name="Shape 40"/>
          <p:cNvSpPr/>
          <p:nvPr/>
        </p:nvSpPr>
        <p:spPr>
          <a:xfrm>
            <a:off x="8586216" y="4562856"/>
            <a:ext cx="3017520" cy="1051560"/>
          </a:xfrm>
          <a:prstGeom prst="roundRect">
            <a:avLst>
              <a:gd name="adj" fmla="val 6957"/>
            </a:avLst>
          </a:prstGeom>
          <a:solidFill>
            <a:srgbClr val="EDEFF7"/>
          </a:solidFill>
          <a:ln w="12700">
            <a:solidFill>
              <a:srgbClr val="D2D8EC"/>
            </a:solidFill>
            <a:prstDash val="solid"/>
          </a:ln>
          <a:effectLst>
            <a:outerShdw blurRad="101600" dist="25400" dir="5400000" algn="bl" rotWithShape="0">
              <a:srgbClr val="9AA0B5">
                <a:alpha val="25000"/>
              </a:srgbClr>
            </a:outerShdw>
          </a:effectLst>
        </p:spPr>
      </p:sp>
      <p:sp>
        <p:nvSpPr>
          <p:cNvPr id="43" name="Text 41"/>
          <p:cNvSpPr txBox="1"/>
          <p:nvPr/>
        </p:nvSpPr>
        <p:spPr>
          <a:xfrm>
            <a:off x="8695944" y="4727448"/>
            <a:ext cx="2798064" cy="320040"/>
          </a:xfrm>
          <a:prstGeom prst="rect">
            <a:avLst/>
          </a:prstGeom>
          <a:noFill/>
          <a:ln/>
        </p:spPr>
        <p:txBody>
          <a:bodyPr wrap="square" lIns="0" tIns="0" rIns="0" bIns="0" rtlCol="0" anchor="ctr"/>
          <a:lstStyle/>
          <a:p>
            <a:pPr marL="0" indent="0" algn="ctr">
              <a:buNone/>
            </a:pPr>
            <a:r>
              <a:rPr lang="en-US" sz="1350" b="1" dirty="0">
                <a:solidFill>
                  <a:srgbClr val="2F3C7E"/>
                </a:solidFill>
                <a:latin typeface="Cambria" pitchFamily="34" charset="0"/>
                <a:ea typeface="Cambria" pitchFamily="34" charset="-122"/>
                <a:cs typeface="Cambria" pitchFamily="34" charset="-120"/>
              </a:rPr>
              <a:t>attendance_log</a:t>
            </a:r>
            <a:endParaRPr lang="en-US" sz="1350" dirty="0"/>
          </a:p>
        </p:txBody>
      </p:sp>
      <p:sp>
        <p:nvSpPr>
          <p:cNvPr id="44" name="Text 42"/>
          <p:cNvSpPr txBox="1"/>
          <p:nvPr/>
        </p:nvSpPr>
        <p:spPr>
          <a:xfrm>
            <a:off x="8695944" y="5065776"/>
            <a:ext cx="2798064" cy="475488"/>
          </a:xfrm>
          <a:prstGeom prst="rect">
            <a:avLst/>
          </a:prstGeom>
          <a:noFill/>
          <a:ln/>
        </p:spPr>
        <p:txBody>
          <a:bodyPr wrap="square" lIns="0" tIns="0" rIns="0" bIns="0" rtlCol="0" anchor="ctr"/>
          <a:lstStyle/>
          <a:p>
            <a:pPr marL="0" indent="0" algn="ctr">
              <a:lnSpc>
                <a:spcPct val="110000"/>
              </a:lnSpc>
              <a:buNone/>
            </a:pPr>
            <a:r>
              <a:rPr lang="en-US" sz="1050" dirty="0">
                <a:solidFill>
                  <a:srgbClr val="555566"/>
                </a:solidFill>
                <a:latin typeface="Calibri" pitchFamily="34" charset="0"/>
                <a:ea typeface="Calibri" pitchFamily="34" charset="-122"/>
                <a:cs typeface="Calibri" pitchFamily="34" charset="-120"/>
              </a:rPr>
              <a:t>roll_no (FK), date, time, status</a:t>
            </a:r>
            <a:endParaRPr lang="en-US" sz="1050" dirty="0"/>
          </a:p>
        </p:txBody>
      </p:sp>
      <p:sp>
        <p:nvSpPr>
          <p:cNvPr id="45" name="Shape 43"/>
          <p:cNvSpPr/>
          <p:nvPr/>
        </p:nvSpPr>
        <p:spPr>
          <a:xfrm>
            <a:off x="548640" y="5897880"/>
            <a:ext cx="11091672" cy="566928"/>
          </a:xfrm>
          <a:prstGeom prst="roundRect">
            <a:avLst>
              <a:gd name="adj" fmla="val 12903"/>
            </a:avLst>
          </a:prstGeom>
          <a:solidFill>
            <a:srgbClr val="F4F4F6"/>
          </a:solidFill>
          <a:ln w="12700">
            <a:solidFill>
              <a:srgbClr val="E4E4EA"/>
            </a:solidFill>
            <a:prstDash val="solid"/>
          </a:ln>
        </p:spPr>
      </p:sp>
      <p:sp>
        <p:nvSpPr>
          <p:cNvPr id="46" name="Text 44"/>
          <p:cNvSpPr txBox="1"/>
          <p:nvPr/>
        </p:nvSpPr>
        <p:spPr>
          <a:xfrm>
            <a:off x="777240" y="5897880"/>
            <a:ext cx="10634472" cy="566928"/>
          </a:xfrm>
          <a:prstGeom prst="rect">
            <a:avLst/>
          </a:prstGeom>
          <a:noFill/>
          <a:ln/>
        </p:spPr>
        <p:txBody>
          <a:bodyPr wrap="square" lIns="0" tIns="0" rIns="0" bIns="0" rtlCol="0" anchor="ctr"/>
          <a:lstStyle/>
          <a:p>
            <a:pPr marL="0" indent="0">
              <a:buNone/>
            </a:pPr>
            <a:r>
              <a:rPr lang="en-US" sz="1150" dirty="0">
                <a:solidFill>
                  <a:srgbClr val="2F3C7E"/>
                </a:solidFill>
                <a:latin typeface="Calibri" pitchFamily="34" charset="0"/>
                <a:ea typeface="Calibri" pitchFamily="34" charset="-122"/>
                <a:cs typeface="Calibri" pitchFamily="34" charset="-120"/>
              </a:rPr>
              <a:t>Flow:   credentials entered  →  face captured and encoded  →  vector matched against that roll number's record  →  result written to attendance_log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638675" y="4191000"/>
            <a:ext cx="2914650" cy="409575"/>
          </a:xfrm>
          <a:prstGeom prst="rect">
            <a:avLst/>
          </a:prstGeom>
        </p:spPr>
      </p:pic>
      <p:pic>
        <p:nvPicPr>
          <p:cNvPr id="3" name="Picture 2" descr="image.png"/>
          <p:cNvPicPr>
            <a:picLocks noChangeAspect="1"/>
          </p:cNvPicPr>
          <p:nvPr/>
        </p:nvPicPr>
        <p:blipFill>
          <a:blip r:embed="rId3"/>
          <a:stretch>
            <a:fillRect/>
          </a:stretch>
        </p:blipFill>
        <p:spPr>
          <a:xfrm>
            <a:off x="2524125" y="1762125"/>
            <a:ext cx="7143750" cy="3333750"/>
          </a:xfrm>
          <a:prstGeom prst="rect">
            <a:avLst/>
          </a:prstGeom>
        </p:spPr>
      </p:pic>
      <p:sp>
        <p:nvSpPr>
          <p:cNvPr id="4" name="TextBox 3"/>
          <p:cNvSpPr txBox="1"/>
          <p:nvPr/>
        </p:nvSpPr>
        <p:spPr>
          <a:xfrm>
            <a:off x="3065621" y="2257425"/>
            <a:ext cx="6060757" cy="781050"/>
          </a:xfrm>
          <a:prstGeom prst="rect">
            <a:avLst/>
          </a:prstGeom>
          <a:noFill/>
        </p:spPr>
        <p:txBody>
          <a:bodyPr wrap="square" lIns="0" tIns="0" rIns="0" bIns="0" anchor="t">
            <a:spAutoFit/>
          </a:bodyPr>
          <a:lstStyle/>
          <a:p>
            <a:pPr algn="ctr"/>
            <a:r>
              <a:rPr sz="4800" b="0" i="0" u="none">
                <a:solidFill>
                  <a:srgbClr val="0F172A"/>
                </a:solidFill>
                <a:latin typeface="Space Grotesk ExtraBold"/>
              </a:rPr>
              <a:t>THANK </a:t>
            </a:r>
            <a:r>
              <a:rPr sz="4800" b="0" i="0" u="none">
                <a:solidFill>
                  <a:srgbClr val="2563EB"/>
                </a:solidFill>
                <a:latin typeface="Space Grotesk ExtraBold"/>
              </a:rPr>
              <a:t>YOU!</a:t>
            </a:r>
          </a:p>
        </p:txBody>
      </p:sp>
      <p:sp>
        <p:nvSpPr>
          <p:cNvPr id="5" name="TextBox 4"/>
          <p:cNvSpPr txBox="1"/>
          <p:nvPr/>
        </p:nvSpPr>
        <p:spPr>
          <a:xfrm>
            <a:off x="3209925" y="3181350"/>
            <a:ext cx="5772150" cy="238125"/>
          </a:xfrm>
          <a:prstGeom prst="rect">
            <a:avLst/>
          </a:prstGeom>
          <a:noFill/>
        </p:spPr>
        <p:txBody>
          <a:bodyPr wrap="square" lIns="0" tIns="0" rIns="0" bIns="0" anchor="t">
            <a:spAutoFit/>
          </a:bodyPr>
          <a:lstStyle/>
          <a:p>
            <a:pPr algn="ctr"/>
            <a:r>
              <a:rPr sz="1500" b="1" i="0" u="none">
                <a:solidFill>
                  <a:srgbClr val="DC2626"/>
                </a:solidFill>
                <a:latin typeface="Plus Jakarta Sans"/>
              </a:rPr>
              <a:t>SMART ATTENDANCE SYSTEM USING FACE RECOGNITION</a:t>
            </a:r>
          </a:p>
        </p:txBody>
      </p:sp>
      <p:sp>
        <p:nvSpPr>
          <p:cNvPr id="6" name="TextBox 5"/>
          <p:cNvSpPr txBox="1"/>
          <p:nvPr/>
        </p:nvSpPr>
        <p:spPr>
          <a:xfrm>
            <a:off x="3209925" y="3705225"/>
            <a:ext cx="5772150" cy="200025"/>
          </a:xfrm>
          <a:prstGeom prst="rect">
            <a:avLst/>
          </a:prstGeom>
          <a:noFill/>
        </p:spPr>
        <p:txBody>
          <a:bodyPr wrap="square" lIns="0" tIns="0" rIns="0" bIns="0" anchor="t">
            <a:spAutoFit/>
          </a:bodyPr>
          <a:lstStyle/>
          <a:p>
            <a:pPr algn="ctr"/>
            <a:r>
              <a:rPr sz="1200" b="0" i="0" u="none">
                <a:solidFill>
                  <a:srgbClr val="475569"/>
                </a:solidFill>
                <a:latin typeface="Plus Jakarta Sans"/>
              </a:rPr>
              <a:t>Department of Computer Science &amp; Engineering | DBMS Project Viva</a:t>
            </a:r>
          </a:p>
        </p:txBody>
      </p:sp>
      <p:pic>
        <p:nvPicPr>
          <p:cNvPr id="7" name="Picture 6" descr="image.png"/>
          <p:cNvPicPr>
            <a:picLocks noChangeAspect="1"/>
          </p:cNvPicPr>
          <p:nvPr/>
        </p:nvPicPr>
        <p:blipFill>
          <a:blip r:embed="rId4"/>
          <a:stretch>
            <a:fillRect/>
          </a:stretch>
        </p:blipFill>
        <p:spPr>
          <a:xfrm>
            <a:off x="4876800" y="4319587"/>
            <a:ext cx="190500" cy="152400"/>
          </a:xfrm>
          <a:prstGeom prst="rect">
            <a:avLst/>
          </a:prstGeom>
        </p:spPr>
      </p:pic>
      <p:pic>
        <p:nvPicPr>
          <p:cNvPr id="8" name="Picture 7" descr="image.png"/>
          <p:cNvPicPr>
            <a:picLocks noChangeAspect="1"/>
          </p:cNvPicPr>
          <p:nvPr/>
        </p:nvPicPr>
        <p:blipFill>
          <a:blip r:embed="rId5"/>
          <a:stretch>
            <a:fillRect/>
          </a:stretch>
        </p:blipFill>
        <p:spPr>
          <a:xfrm>
            <a:off x="0" y="0"/>
            <a:ext cx="12192000" cy="6858000"/>
          </a:xfrm>
          <a:prstGeom prst="rect">
            <a:avLst/>
          </a:prstGeom>
        </p:spPr>
      </p:pic>
      <p:sp>
        <p:nvSpPr>
          <p:cNvPr id="9" name="Rounded Rectangle 8"/>
          <p:cNvSpPr/>
          <p:nvPr/>
        </p:nvSpPr>
        <p:spPr>
          <a:xfrm>
            <a:off x="3964185" y="3409950"/>
            <a:ext cx="4263628" cy="381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665021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1044</Words>
  <Application>Microsoft Office PowerPoint</Application>
  <PresentationFormat>Widescreen</PresentationFormat>
  <Paragraphs>186</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Cambria</vt:lpstr>
      <vt:lpstr>Plus Jakarta Sans</vt:lpstr>
      <vt:lpstr>Space Grotesk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Attendance System Using Face Recognition</dc:title>
  <dc:subject>PptxGenJS Presentation</dc:subject>
  <dc:creator>Smart Attendance System Team</dc:creator>
  <cp:lastModifiedBy>admin</cp:lastModifiedBy>
  <cp:revision>3</cp:revision>
  <dcterms:created xsi:type="dcterms:W3CDTF">2026-09-15T05:33:47Z</dcterms:created>
  <dcterms:modified xsi:type="dcterms:W3CDTF">2026-09-15T05:43:24Z</dcterms:modified>
</cp:coreProperties>
</file>
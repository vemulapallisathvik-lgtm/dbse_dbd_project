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200" d="100"/>
          <a:sy n="200" d="100"/>
        </p:scale>
        <p:origin x="-3854" y="-227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5" Type="http://schemas.openxmlformats.org/officeDocument/2006/relationships/image" Target="../media/image3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14" Type="http://schemas.openxmlformats.org/officeDocument/2006/relationships/image" Target="../media/image3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png"/><Relationship Id="rId18" Type="http://schemas.openxmlformats.org/officeDocument/2006/relationships/image" Target="../media/image54.png"/><Relationship Id="rId3" Type="http://schemas.openxmlformats.org/officeDocument/2006/relationships/image" Target="../media/image39.png"/><Relationship Id="rId21" Type="http://schemas.openxmlformats.org/officeDocument/2006/relationships/image" Target="../media/image57.pn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17" Type="http://schemas.openxmlformats.org/officeDocument/2006/relationships/image" Target="../media/image53.png"/><Relationship Id="rId2" Type="http://schemas.openxmlformats.org/officeDocument/2006/relationships/image" Target="../media/image12.png"/><Relationship Id="rId16" Type="http://schemas.openxmlformats.org/officeDocument/2006/relationships/image" Target="../media/image52.png"/><Relationship Id="rId20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5" Type="http://schemas.openxmlformats.org/officeDocument/2006/relationships/image" Target="../media/image51.png"/><Relationship Id="rId23" Type="http://schemas.openxmlformats.org/officeDocument/2006/relationships/image" Target="../media/image59.png"/><Relationship Id="rId10" Type="http://schemas.openxmlformats.org/officeDocument/2006/relationships/image" Target="../media/image46.png"/><Relationship Id="rId19" Type="http://schemas.openxmlformats.org/officeDocument/2006/relationships/image" Target="../media/image55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Relationship Id="rId14" Type="http://schemas.openxmlformats.org/officeDocument/2006/relationships/image" Target="../media/image50.png"/><Relationship Id="rId22" Type="http://schemas.openxmlformats.org/officeDocument/2006/relationships/image" Target="../media/image5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13" Type="http://schemas.openxmlformats.org/officeDocument/2006/relationships/image" Target="../media/image70.png"/><Relationship Id="rId18" Type="http://schemas.openxmlformats.org/officeDocument/2006/relationships/image" Target="../media/image75.png"/><Relationship Id="rId26" Type="http://schemas.openxmlformats.org/officeDocument/2006/relationships/image" Target="../media/image83.png"/><Relationship Id="rId3" Type="http://schemas.openxmlformats.org/officeDocument/2006/relationships/image" Target="../media/image60.png"/><Relationship Id="rId21" Type="http://schemas.openxmlformats.org/officeDocument/2006/relationships/image" Target="../media/image78.png"/><Relationship Id="rId7" Type="http://schemas.openxmlformats.org/officeDocument/2006/relationships/image" Target="../media/image64.png"/><Relationship Id="rId12" Type="http://schemas.openxmlformats.org/officeDocument/2006/relationships/image" Target="../media/image69.png"/><Relationship Id="rId17" Type="http://schemas.openxmlformats.org/officeDocument/2006/relationships/image" Target="../media/image74.png"/><Relationship Id="rId25" Type="http://schemas.openxmlformats.org/officeDocument/2006/relationships/image" Target="../media/image82.png"/><Relationship Id="rId2" Type="http://schemas.openxmlformats.org/officeDocument/2006/relationships/image" Target="../media/image12.png"/><Relationship Id="rId16" Type="http://schemas.openxmlformats.org/officeDocument/2006/relationships/image" Target="../media/image73.png"/><Relationship Id="rId20" Type="http://schemas.openxmlformats.org/officeDocument/2006/relationships/image" Target="../media/image7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png"/><Relationship Id="rId11" Type="http://schemas.openxmlformats.org/officeDocument/2006/relationships/image" Target="../media/image68.png"/><Relationship Id="rId24" Type="http://schemas.openxmlformats.org/officeDocument/2006/relationships/image" Target="../media/image81.png"/><Relationship Id="rId5" Type="http://schemas.openxmlformats.org/officeDocument/2006/relationships/image" Target="../media/image62.png"/><Relationship Id="rId15" Type="http://schemas.openxmlformats.org/officeDocument/2006/relationships/image" Target="../media/image72.png"/><Relationship Id="rId23" Type="http://schemas.openxmlformats.org/officeDocument/2006/relationships/image" Target="../media/image80.png"/><Relationship Id="rId28" Type="http://schemas.openxmlformats.org/officeDocument/2006/relationships/image" Target="../media/image85.png"/><Relationship Id="rId10" Type="http://schemas.openxmlformats.org/officeDocument/2006/relationships/image" Target="../media/image67.png"/><Relationship Id="rId19" Type="http://schemas.openxmlformats.org/officeDocument/2006/relationships/image" Target="../media/image76.png"/><Relationship Id="rId4" Type="http://schemas.openxmlformats.org/officeDocument/2006/relationships/image" Target="../media/image61.png"/><Relationship Id="rId9" Type="http://schemas.openxmlformats.org/officeDocument/2006/relationships/image" Target="../media/image66.png"/><Relationship Id="rId14" Type="http://schemas.openxmlformats.org/officeDocument/2006/relationships/image" Target="../media/image71.png"/><Relationship Id="rId22" Type="http://schemas.openxmlformats.org/officeDocument/2006/relationships/image" Target="../media/image79.png"/><Relationship Id="rId27" Type="http://schemas.openxmlformats.org/officeDocument/2006/relationships/image" Target="../media/image8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2253704"/>
            <a:ext cx="3648075" cy="304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4470945"/>
            <a:ext cx="6457950" cy="1371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1874" y="5295900"/>
            <a:ext cx="4810125" cy="11144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0" y="5534025"/>
            <a:ext cx="1485900" cy="2571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6375" y="1381125"/>
            <a:ext cx="4286250" cy="12382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3875" y="2749004"/>
            <a:ext cx="6780847" cy="10075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967"/>
              </a:lnSpc>
            </a:pPr>
            <a:r>
              <a:rPr sz="3450" b="1" i="0" u="none" dirty="0">
                <a:solidFill>
                  <a:srgbClr val="0F172A"/>
                </a:solidFill>
                <a:latin typeface="Space Grotesk"/>
              </a:rPr>
              <a:t>SMART ATTENDANCE SYSTEM </a:t>
            </a:r>
            <a:r>
              <a:rPr dirty="0"/>
              <a:t>
</a:t>
            </a:r>
            <a:r>
              <a:rPr sz="3450" b="1" i="0" u="none" dirty="0">
                <a:solidFill>
                  <a:srgbClr val="2563EB"/>
                </a:solidFill>
                <a:latin typeface="Space Grotesk"/>
              </a:rPr>
              <a:t>USING FACE</a:t>
            </a:r>
            <a:r>
              <a:rPr sz="3450" b="1" i="0" u="none" dirty="0">
                <a:solidFill>
                  <a:srgbClr val="0F172A"/>
                </a:solidFill>
                <a:latin typeface="Space Grotesk"/>
              </a:rPr>
              <a:t> </a:t>
            </a:r>
            <a:r>
              <a:rPr sz="3450" b="1" i="0" u="none" dirty="0">
                <a:solidFill>
                  <a:srgbClr val="DC2626"/>
                </a:solidFill>
                <a:latin typeface="Space Grotesk"/>
              </a:rPr>
              <a:t>RECOGNITION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3875" y="3899445"/>
            <a:ext cx="6457950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Plus Jakarta Sans SemiBold"/>
              </a:rPr>
              <a:t>Automated Student Verification &amp; Database Recording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3875" y="4137570"/>
            <a:ext cx="1343025" cy="19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0575" y="4661445"/>
            <a:ext cx="5962650" cy="152400"/>
          </a:xfrm>
          <a:prstGeom prst="rect">
            <a:avLst/>
          </a:prstGeom>
          <a:noFill/>
        </p:spPr>
        <p:txBody>
          <a:bodyPr wrap="square" lIns="161925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DC2626"/>
                </a:solidFill>
                <a:latin typeface="Plus Jakarta Sans"/>
              </a:rPr>
              <a:t>PROJECT TEAM MEMBERS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0" y="5867400"/>
            <a:ext cx="37909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CBD5E1"/>
                </a:solidFill>
                <a:latin typeface="Plus Jakarta Sans"/>
              </a:rPr>
              <a:t>Automated facial scanning matched against stored biometric vectors in MySQL database.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575" y="4680495"/>
            <a:ext cx="161925" cy="1238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90575" y="4928145"/>
            <a:ext cx="596265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0" i="0" u="none">
                <a:solidFill>
                  <a:srgbClr val="1E293B"/>
                </a:solidFill>
                <a:latin typeface="Plus Jakarta Sans SemiBold"/>
              </a:rPr>
              <a:t>V. SHIVA VENKATA SAI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575" y="5194845"/>
            <a:ext cx="596265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0" i="0" u="none">
                <a:solidFill>
                  <a:srgbClr val="1E293B"/>
                </a:solidFill>
                <a:latin typeface="Plus Jakarta Sans SemiBold"/>
              </a:rPr>
              <a:t>V. SATHVIK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575" y="5461545"/>
            <a:ext cx="596265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0" i="0" u="none">
                <a:solidFill>
                  <a:srgbClr val="1E293B"/>
                </a:solidFill>
                <a:latin typeface="Plus Jakarta Sans SemiBold"/>
              </a:rPr>
              <a:t>R. PRANAV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53350" y="5605462"/>
            <a:ext cx="104775" cy="1143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00576" y="4928145"/>
            <a:ext cx="952648" cy="1905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00576" y="5194845"/>
            <a:ext cx="952648" cy="1905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00576" y="5461545"/>
            <a:ext cx="952648" cy="19050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4193" y="29617"/>
            <a:ext cx="4765486" cy="52900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377678"/>
            <a:ext cx="5429250" cy="401716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343150"/>
            <a:ext cx="5429250" cy="40862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575" y="3057525"/>
            <a:ext cx="4895850" cy="5143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575" y="3705225"/>
            <a:ext cx="4895850" cy="5143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575" y="4352925"/>
            <a:ext cx="4895850" cy="5143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575" y="5000625"/>
            <a:ext cx="4895850" cy="5143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575" y="5648325"/>
            <a:ext cx="4895850" cy="5143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86550" y="3181350"/>
            <a:ext cx="266700" cy="2667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86550" y="3829050"/>
            <a:ext cx="266700" cy="2667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86550" y="4476750"/>
            <a:ext cx="266700" cy="2667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86550" y="5124450"/>
            <a:ext cx="266700" cy="2667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86550" y="5772150"/>
            <a:ext cx="266700" cy="2667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76375" y="1381125"/>
            <a:ext cx="4286250" cy="11334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23875" y="1624012"/>
            <a:ext cx="223837" cy="2857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248900" y="1643062"/>
            <a:ext cx="1419225" cy="24765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3219450" y="2387203"/>
            <a:ext cx="38100" cy="399811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00850" y="2609850"/>
            <a:ext cx="4600575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FDE047"/>
                </a:solidFill>
                <a:latin typeface="Plus Jakarta Sans"/>
              </a:rPr>
              <a:t>Core Execution 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" y="2653903"/>
            <a:ext cx="4876800" cy="7072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56"/>
              </a:lnSpc>
            </a:pPr>
            <a:r>
              <a:rPr sz="1125" b="0" i="0" u="none" dirty="0">
                <a:solidFill>
                  <a:srgbClr val="334155"/>
                </a:solidFill>
                <a:latin typeface="Plus Jakarta Sans"/>
              </a:rPr>
              <a:t>The </a:t>
            </a:r>
            <a:r>
              <a:rPr sz="1125" b="1" i="0" u="none" dirty="0">
                <a:solidFill>
                  <a:srgbClr val="334155"/>
                </a:solidFill>
                <a:latin typeface="Plus Jakarta Sans"/>
              </a:rPr>
              <a:t>Smart Attendance System</a:t>
            </a:r>
            <a:r>
              <a:rPr sz="1125" b="0" i="0" u="none" dirty="0">
                <a:solidFill>
                  <a:srgbClr val="334155"/>
                </a:solidFill>
                <a:latin typeface="Plus Jakarta Sans"/>
              </a:rPr>
              <a:t> is a database-driven attendance management application designed to automate student attendance marking using real-time face recognition technology.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" y="3494484"/>
            <a:ext cx="4876800" cy="7072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56"/>
              </a:lnSpc>
            </a:pPr>
            <a:r>
              <a:rPr sz="1125" b="0" i="0" u="none" dirty="0">
                <a:solidFill>
                  <a:srgbClr val="334155"/>
                </a:solidFill>
                <a:latin typeface="Plus Jakarta Sans"/>
              </a:rPr>
              <a:t>Initially, essential student information—including Name, Roll Number, Department, Section, and Registered Biometric Face Data—is stored securely in the </a:t>
            </a:r>
            <a:r>
              <a:rPr sz="1125" b="1" i="0" u="none" dirty="0">
                <a:solidFill>
                  <a:srgbClr val="334155"/>
                </a:solidFill>
                <a:latin typeface="Plus Jakarta Sans"/>
              </a:rPr>
              <a:t>MySQL database</a:t>
            </a:r>
            <a:r>
              <a:rPr sz="1125" b="0" i="0" u="none" dirty="0">
                <a:solidFill>
                  <a:srgbClr val="334155"/>
                </a:solidFill>
                <a:latin typeface="Plus Jakarta Sans"/>
              </a:rPr>
              <a:t>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" y="4335065"/>
            <a:ext cx="4876800" cy="942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56"/>
              </a:lnSpc>
            </a:pPr>
            <a:r>
              <a:rPr sz="1125" b="0" i="0" u="none">
                <a:solidFill>
                  <a:srgbClr val="334155"/>
                </a:solidFill>
                <a:latin typeface="Plus Jakarta Sans"/>
              </a:rPr>
              <a:t>During attendance, students enter their credentials and undergo live face scanning. If the captured face matches the registered biometric dataset associated with the student's record, attendance is marked as </a:t>
            </a:r>
            <a:r>
              <a:rPr sz="1125" b="0" i="1" u="none">
                <a:solidFill>
                  <a:srgbClr val="334155"/>
                </a:solidFill>
                <a:latin typeface="Plus Jakarta Sans"/>
              </a:rPr>
              <a:t>"Attendance Successfully Provided"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" y="5411390"/>
            <a:ext cx="4876800" cy="7072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56"/>
              </a:lnSpc>
            </a:pPr>
            <a:r>
              <a:rPr sz="1125" b="0" i="0" u="none">
                <a:solidFill>
                  <a:srgbClr val="334155"/>
                </a:solidFill>
                <a:latin typeface="Plus Jakarta Sans"/>
              </a:rPr>
              <a:t>The system eliminates proxy attendance, reduces manual administrative overhead, and maintains a centralized, tamper-proof attendance log.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05575" y="2633662"/>
            <a:ext cx="219075" cy="1714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096125" y="3224212"/>
            <a:ext cx="31908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F8FAFC"/>
                </a:solidFill>
                <a:latin typeface="Plus Jakarta Sans SemiBold"/>
              </a:rPr>
              <a:t>Student Credential Entry (Dept / Sec / Roll No)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96125" y="3871912"/>
            <a:ext cx="32766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F8FAFC"/>
                </a:solidFill>
                <a:latin typeface="Plus Jakarta Sans SemiBold"/>
              </a:rPr>
              <a:t>Live Camera Face Capture &amp; Feature Extraction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96125" y="4519612"/>
            <a:ext cx="33718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F8FAFC"/>
                </a:solidFill>
                <a:latin typeface="Plus Jakarta Sans SemiBold"/>
              </a:rPr>
              <a:t>Biometric Face Matching against Stored Dataset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96125" y="5167312"/>
            <a:ext cx="25622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F8FAFC"/>
                </a:solidFill>
                <a:latin typeface="Plus Jakarta Sans SemiBold"/>
              </a:rPr>
              <a:t>MySQL Database Record Verification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96125" y="5815012"/>
            <a:ext cx="29527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F8FAFC"/>
                </a:solidFill>
                <a:latin typeface="Plus Jakarta Sans SemiBold"/>
              </a:rPr>
              <a:t>Attendance Confirmation &amp; Status Update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2012" y="1562100"/>
            <a:ext cx="11329987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1E3A8A"/>
                </a:solidFill>
                <a:latin typeface="Space Grotesk"/>
              </a:rPr>
              <a:t>ABSTRACT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3875" y="2085975"/>
            <a:ext cx="1114425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3347442"/>
            <a:ext cx="5453062" cy="308193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5062" y="3347442"/>
            <a:ext cx="5453062" cy="308193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5857875"/>
            <a:ext cx="4976812" cy="3333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3187" y="5857875"/>
            <a:ext cx="4976812" cy="3333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6375" y="1381125"/>
            <a:ext cx="4286250" cy="2137767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875" y="2628304"/>
            <a:ext cx="366712" cy="2857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25050" y="2647354"/>
            <a:ext cx="1743075" cy="2476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3595092"/>
            <a:ext cx="228600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04900" y="3585567"/>
            <a:ext cx="2430303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991B1B"/>
                </a:solidFill>
                <a:latin typeface="Space Grotesk"/>
              </a:rPr>
              <a:t>Current System (Manual)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2025" y="4118967"/>
            <a:ext cx="4776787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334155"/>
                </a:solidFill>
                <a:latin typeface="Plus Jakarta Sans"/>
              </a:rPr>
              <a:t>Manual attendance using physical paper registers.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2025" y="4400847"/>
            <a:ext cx="4776787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334155"/>
                </a:solidFill>
                <a:latin typeface="Plus Jakarta Sans"/>
              </a:rPr>
              <a:t>Time-consuming process causing class instruction delays.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2025" y="4682728"/>
            <a:ext cx="4776787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334155"/>
                </a:solidFill>
                <a:latin typeface="Plus Jakarta Sans"/>
              </a:rPr>
              <a:t>High probability of human errors during record entries.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2025" y="4964608"/>
            <a:ext cx="4776787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334155"/>
                </a:solidFill>
                <a:latin typeface="Plus Jakarta Sans"/>
              </a:rPr>
              <a:t>High vulnerability to proxy and fraudulent attendance.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2025" y="5246489"/>
            <a:ext cx="4776787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334155"/>
                </a:solidFill>
                <a:latin typeface="Plus Jakarta Sans"/>
              </a:rPr>
              <a:t>Difficult to archive and aggregate historical records.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2025" y="5528369"/>
            <a:ext cx="4776787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334155"/>
                </a:solidFill>
                <a:latin typeface="Plus Jakarta Sans"/>
              </a:rPr>
              <a:t>Requires tedious manual calculations for percentage reports.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5350" y="5967412"/>
            <a:ext cx="114300" cy="1143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53187" y="3595092"/>
            <a:ext cx="228600" cy="2286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796087" y="3585567"/>
            <a:ext cx="3590448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40AF"/>
                </a:solidFill>
                <a:latin typeface="Space Grotesk"/>
              </a:rPr>
              <a:t>Proposed System (Automated DBMS)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2737" y="4118967"/>
            <a:ext cx="4767262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334155"/>
                </a:solidFill>
                <a:latin typeface="Plus Jakarta Sans"/>
              </a:rPr>
              <a:t>Fully automated face-recognition-based logging.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2737" y="4400847"/>
            <a:ext cx="4767262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334155"/>
                </a:solidFill>
                <a:latin typeface="Plus Jakarta Sans"/>
              </a:rPr>
              <a:t>Instantaneous scanning and attendance verification.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62737" y="4682728"/>
            <a:ext cx="4767262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334155"/>
                </a:solidFill>
                <a:latin typeface="Plus Jakarta Sans"/>
              </a:rPr>
              <a:t>Centralized MySQL database ensuring high data integrity.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62737" y="4964608"/>
            <a:ext cx="4767262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334155"/>
                </a:solidFill>
                <a:latin typeface="Plus Jakarta Sans"/>
              </a:rPr>
              <a:t>Completely eliminates proxy attendance through biometric validation.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2737" y="5246489"/>
            <a:ext cx="4767262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334155"/>
                </a:solidFill>
                <a:latin typeface="Plus Jakarta Sans"/>
              </a:rPr>
              <a:t>Rapid query execution for instantaneous attendance retrieval.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62737" y="5528369"/>
            <a:ext cx="4767262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334155"/>
                </a:solidFill>
                <a:latin typeface="Plus Jakarta Sans"/>
              </a:rPr>
              <a:t>Automated calculation of student attendance percentages.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86537" y="5967412"/>
            <a:ext cx="114300" cy="1143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2000" y="4142779"/>
            <a:ext cx="104775" cy="14287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2000" y="4424660"/>
            <a:ext cx="104775" cy="14287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2000" y="4706540"/>
            <a:ext cx="104775" cy="14287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2000" y="4988421"/>
            <a:ext cx="104775" cy="142875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2000" y="5270301"/>
            <a:ext cx="104775" cy="142875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2000" y="5552182"/>
            <a:ext cx="104775" cy="142875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53187" y="4142779"/>
            <a:ext cx="114300" cy="142875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53187" y="4424660"/>
            <a:ext cx="114300" cy="142875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53187" y="4706540"/>
            <a:ext cx="114300" cy="142875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53187" y="4988421"/>
            <a:ext cx="114300" cy="142875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53187" y="5270301"/>
            <a:ext cx="114300" cy="142875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53187" y="5552182"/>
            <a:ext cx="114300" cy="142875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04887" y="2566392"/>
            <a:ext cx="11187112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1E3A8A"/>
                </a:solidFill>
                <a:latin typeface="Space Grotesk"/>
              </a:rPr>
              <a:t>CURRENT SYSTEM VS PROPOSED SYSTEM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3875" y="3090267"/>
            <a:ext cx="1114425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809875"/>
            <a:ext cx="5429250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809875"/>
            <a:ext cx="5429250" cy="3619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3562350"/>
            <a:ext cx="4953000" cy="571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4248150"/>
            <a:ext cx="4953000" cy="571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4933950"/>
            <a:ext cx="4953000" cy="571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5619750"/>
            <a:ext cx="4953000" cy="571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7000" y="3562350"/>
            <a:ext cx="4953000" cy="571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7000" y="4248150"/>
            <a:ext cx="4953000" cy="571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0" y="4933950"/>
            <a:ext cx="4953000" cy="571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0" y="5619750"/>
            <a:ext cx="4953000" cy="571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76375" y="1381125"/>
            <a:ext cx="4286250" cy="16002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3875" y="2090737"/>
            <a:ext cx="290512" cy="2857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91775" y="2109787"/>
            <a:ext cx="1276350" cy="2476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04900" y="3048000"/>
            <a:ext cx="461010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5" b="1" i="0" u="none">
                <a:solidFill>
                  <a:srgbClr val="1E3A8A"/>
                </a:solidFill>
                <a:latin typeface="Plus Jakarta Sans"/>
              </a:rPr>
              <a:t>Software Requirements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2000" y="3371850"/>
            <a:ext cx="4953000" cy="190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91325" y="3048000"/>
            <a:ext cx="4638675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5" b="1" i="0" u="none">
                <a:solidFill>
                  <a:srgbClr val="B45309"/>
                </a:solidFill>
                <a:latin typeface="Plus Jakarta Sans"/>
              </a:rPr>
              <a:t>Hardware Requirements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77000" y="3371850"/>
            <a:ext cx="4953000" cy="19050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3071812"/>
            <a:ext cx="228600" cy="1809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77000" y="3071812"/>
            <a:ext cx="200025" cy="1809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4875" y="3667125"/>
            <a:ext cx="361950" cy="3619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400175" y="3690937"/>
            <a:ext cx="159067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64748B"/>
                </a:solidFill>
                <a:latin typeface="Plus Jakarta Sans"/>
              </a:rPr>
              <a:t>Frontend Technologies</a:t>
            </a:r>
            <a:r>
              <a:rPr sz="1200" b="0" i="0" u="none">
                <a:solidFill>
                  <a:srgbClr val="0F172A"/>
                </a:solidFill>
                <a:latin typeface="Plus Jakarta Sans"/>
              </a:rPr>
              <a:t> </a:t>
            </a:r>
            <a:r>
              <a:rPr sz="1200" b="0" i="0" u="none">
                <a:solidFill>
                  <a:srgbClr val="0F172A"/>
                </a:solidFill>
                <a:latin typeface="Plus Jakarta Sans SemiBold"/>
              </a:rPr>
              <a:t>HTML, CSS, JavaScript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4875" y="4352925"/>
            <a:ext cx="361950" cy="3619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400175" y="4376737"/>
            <a:ext cx="155257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64748B"/>
                </a:solidFill>
                <a:latin typeface="Plus Jakarta Sans"/>
              </a:rPr>
              <a:t>Database Management</a:t>
            </a:r>
            <a:r>
              <a:rPr sz="1200" b="0" i="0" u="none">
                <a:solidFill>
                  <a:srgbClr val="0F172A"/>
                </a:solidFill>
                <a:latin typeface="Plus Jakarta Sans"/>
              </a:rPr>
              <a:t> </a:t>
            </a:r>
            <a:r>
              <a:rPr sz="1200" b="0" i="0" u="none">
                <a:solidFill>
                  <a:srgbClr val="0F172A"/>
                </a:solidFill>
                <a:latin typeface="Plus Jakarta Sans SemiBold"/>
              </a:rPr>
              <a:t>MySQL Database Server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04875" y="5038725"/>
            <a:ext cx="361950" cy="3619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400175" y="5062537"/>
            <a:ext cx="227647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64748B"/>
                </a:solidFill>
                <a:latin typeface="Plus Jakarta Sans"/>
              </a:rPr>
              <a:t>Face Recognition Module</a:t>
            </a:r>
            <a:r>
              <a:rPr sz="1200" b="0" i="0" u="none">
                <a:solidFill>
                  <a:srgbClr val="0F172A"/>
                </a:solidFill>
                <a:latin typeface="Plus Jakarta Sans"/>
              </a:rPr>
              <a:t> </a:t>
            </a:r>
            <a:r>
              <a:rPr sz="1200" b="0" i="0" u="none">
                <a:solidFill>
                  <a:srgbClr val="0F172A"/>
                </a:solidFill>
                <a:latin typeface="Plus Jakarta Sans SemiBold"/>
              </a:rPr>
              <a:t>Computer Vision / Face Matcher API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04875" y="5724525"/>
            <a:ext cx="361950" cy="36195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400175" y="5748337"/>
            <a:ext cx="211455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64748B"/>
                </a:solidFill>
                <a:latin typeface="Plus Jakarta Sans"/>
              </a:rPr>
              <a:t>Development Environment &amp; OS</a:t>
            </a:r>
            <a:r>
              <a:rPr sz="1200" b="0" i="0" u="none">
                <a:solidFill>
                  <a:srgbClr val="0F172A"/>
                </a:solidFill>
                <a:latin typeface="Plus Jakarta Sans"/>
              </a:rPr>
              <a:t> </a:t>
            </a:r>
            <a:r>
              <a:rPr sz="1200" b="0" i="0" u="none">
                <a:solidFill>
                  <a:srgbClr val="0F172A"/>
                </a:solidFill>
                <a:latin typeface="Plus Jakarta Sans SemiBold"/>
              </a:rPr>
              <a:t>VS Code IDE | Windows / Linux OS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19875" y="3667125"/>
            <a:ext cx="361950" cy="36195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115175" y="3690937"/>
            <a:ext cx="21336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64748B"/>
                </a:solidFill>
                <a:latin typeface="Plus Jakarta Sans"/>
              </a:rPr>
              <a:t>Processing Device</a:t>
            </a:r>
            <a:r>
              <a:rPr sz="1200" b="0" i="0" u="none">
                <a:solidFill>
                  <a:srgbClr val="0F172A"/>
                </a:solidFill>
                <a:latin typeface="Plus Jakarta Sans"/>
              </a:rPr>
              <a:t> </a:t>
            </a:r>
            <a:r>
              <a:rPr sz="1200" b="0" i="0" u="none">
                <a:solidFill>
                  <a:srgbClr val="0F172A"/>
                </a:solidFill>
                <a:latin typeface="Plus Jakarta Sans SemiBold"/>
              </a:rPr>
              <a:t>Computer / Workstation / Laptop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19875" y="4352925"/>
            <a:ext cx="361950" cy="36195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115175" y="4376737"/>
            <a:ext cx="257175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64748B"/>
                </a:solidFill>
                <a:latin typeface="Plus Jakarta Sans"/>
              </a:rPr>
              <a:t>Optical Capture</a:t>
            </a:r>
            <a:r>
              <a:rPr sz="1200" b="0" i="0" u="none">
                <a:solidFill>
                  <a:srgbClr val="0F172A"/>
                </a:solidFill>
                <a:latin typeface="Plus Jakarta Sans"/>
              </a:rPr>
              <a:t> </a:t>
            </a:r>
            <a:r>
              <a:rPr sz="1200" b="0" i="0" u="none">
                <a:solidFill>
                  <a:srgbClr val="0F172A"/>
                </a:solidFill>
                <a:latin typeface="Plus Jakarta Sans SemiBold"/>
              </a:rPr>
              <a:t>High Definition Webcam (720p minimum)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19875" y="5038725"/>
            <a:ext cx="361950" cy="36195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115175" y="5062537"/>
            <a:ext cx="256222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64748B"/>
                </a:solidFill>
                <a:latin typeface="Plus Jakarta Sans"/>
              </a:rPr>
              <a:t>Memory &amp; Processor</a:t>
            </a:r>
            <a:r>
              <a:rPr sz="1200" b="0" i="0" u="none">
                <a:solidFill>
                  <a:srgbClr val="0F172A"/>
                </a:solidFill>
                <a:latin typeface="Plus Jakarta Sans"/>
              </a:rPr>
              <a:t> </a:t>
            </a:r>
            <a:r>
              <a:rPr sz="1200" b="0" i="0" u="none">
                <a:solidFill>
                  <a:srgbClr val="0F172A"/>
                </a:solidFill>
                <a:latin typeface="Plus Jakarta Sans SemiBold"/>
              </a:rPr>
              <a:t>Min. 4 GB RAM | Dual-Core CPU or better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19875" y="5724525"/>
            <a:ext cx="361950" cy="36195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115175" y="5748337"/>
            <a:ext cx="23622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64748B"/>
                </a:solidFill>
                <a:latin typeface="Plus Jakarta Sans"/>
              </a:rPr>
              <a:t>Storage &amp; Connectivity</a:t>
            </a:r>
            <a:r>
              <a:rPr sz="1200" b="0" i="0" u="none">
                <a:solidFill>
                  <a:srgbClr val="0F172A"/>
                </a:solidFill>
                <a:latin typeface="Plus Jakarta Sans"/>
              </a:rPr>
              <a:t> </a:t>
            </a:r>
            <a:r>
              <a:rPr sz="1200" b="0" i="0" u="none">
                <a:solidFill>
                  <a:srgbClr val="0F172A"/>
                </a:solidFill>
                <a:latin typeface="Plus Jakarta Sans SemiBold"/>
              </a:rPr>
              <a:t>10 GB Storage | Local Network / Wi-Fi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28700" y="3771900"/>
            <a:ext cx="114300" cy="15240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19175" y="4457700"/>
            <a:ext cx="133350" cy="15240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09650" y="5143500"/>
            <a:ext cx="152400" cy="15240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90600" y="5829300"/>
            <a:ext cx="190500" cy="15240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705600" y="3771900"/>
            <a:ext cx="190500" cy="15240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724650" y="4457700"/>
            <a:ext cx="152400" cy="15240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715125" y="5143500"/>
            <a:ext cx="171450" cy="15240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724650" y="5829300"/>
            <a:ext cx="152400" cy="15240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928687" y="2028825"/>
            <a:ext cx="11263312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1E3A8A"/>
                </a:solidFill>
                <a:latin typeface="Space Grotesk"/>
              </a:rPr>
              <a:t>SOFTWARE AND HARDWARE REQUIREMENTS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23875" y="2552700"/>
            <a:ext cx="1114425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619375"/>
            <a:ext cx="11144250" cy="3810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2619375"/>
            <a:ext cx="4907756" cy="12668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75" y="4038600"/>
            <a:ext cx="4907756" cy="12477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875" y="5438775"/>
            <a:ext cx="4907756" cy="990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850" y="3076575"/>
            <a:ext cx="1343025" cy="2762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24075" y="3076575"/>
            <a:ext cx="1000125" cy="2762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00400" y="3076575"/>
            <a:ext cx="1276350" cy="2762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4850" y="3429000"/>
            <a:ext cx="1238250" cy="2762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6275" y="5857875"/>
            <a:ext cx="1381869" cy="4191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86744" y="5857875"/>
            <a:ext cx="1381869" cy="4191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97213" y="5857875"/>
            <a:ext cx="1381869" cy="4191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76375" y="1381125"/>
            <a:ext cx="4286250" cy="14097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23875" y="1900237"/>
            <a:ext cx="366712" cy="2857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086975" y="1919287"/>
            <a:ext cx="1581150" cy="2476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42975" y="2800350"/>
            <a:ext cx="4307681" cy="1809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1E3A8A"/>
                </a:solidFill>
                <a:latin typeface="Plus Jakarta Sans"/>
              </a:rPr>
              <a:t>Stack Configuration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925" y="4219575"/>
            <a:ext cx="4326731" cy="1809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1E3A8A"/>
                </a:solidFill>
                <a:latin typeface="Plus Jakarta Sans"/>
              </a:rPr>
              <a:t>MySQL Main Schema Attributes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275" y="5591175"/>
            <a:ext cx="4602956" cy="152400"/>
          </a:xfrm>
          <a:prstGeom prst="rect">
            <a:avLst/>
          </a:prstGeom>
          <a:noFill/>
        </p:spPr>
        <p:txBody>
          <a:bodyPr wrap="square" lIns="142875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FDE047"/>
                </a:solidFill>
                <a:latin typeface="Plus Jakarta Sans"/>
              </a:rPr>
              <a:t>SYSTEM COMPONENT FLOW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04850" y="2819400"/>
            <a:ext cx="161925" cy="1428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04850" y="4238625"/>
            <a:ext cx="142875" cy="14287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04850" y="4495800"/>
            <a:ext cx="2234803" cy="152400"/>
          </a:xfrm>
          <a:prstGeom prst="rect">
            <a:avLst/>
          </a:prstGeom>
          <a:noFill/>
        </p:spPr>
        <p:txBody>
          <a:bodyPr wrap="square" lIns="123825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34155"/>
                </a:solidFill>
                <a:latin typeface="Plus Jakarta Sans SemiBold"/>
              </a:rPr>
              <a:t>Student Name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5853" y="4495800"/>
            <a:ext cx="2234803" cy="152400"/>
          </a:xfrm>
          <a:prstGeom prst="rect">
            <a:avLst/>
          </a:prstGeom>
          <a:noFill/>
        </p:spPr>
        <p:txBody>
          <a:bodyPr wrap="square" lIns="123825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34155"/>
                </a:solidFill>
                <a:latin typeface="Plus Jakarta Sans SemiBold"/>
              </a:rPr>
              <a:t>Roll Number (PK)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850" y="4724400"/>
            <a:ext cx="2234803" cy="152400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34155"/>
                </a:solidFill>
                <a:latin typeface="Plus Jakarta Sans SemiBold"/>
              </a:rPr>
              <a:t>Department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5853" y="4724400"/>
            <a:ext cx="2234803" cy="152400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34155"/>
                </a:solidFill>
                <a:latin typeface="Plus Jakarta Sans SemiBold"/>
              </a:rPr>
              <a:t>Section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850" y="4953000"/>
            <a:ext cx="2234803" cy="152400"/>
          </a:xfrm>
          <a:prstGeom prst="rect">
            <a:avLst/>
          </a:prstGeom>
          <a:noFill/>
        </p:spPr>
        <p:txBody>
          <a:bodyPr wrap="square" lIns="123825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34155"/>
                </a:solidFill>
                <a:latin typeface="Plus Jakarta Sans SemiBold"/>
              </a:rPr>
              <a:t>Face Vector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5853" y="4953000"/>
            <a:ext cx="2234803" cy="152400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34155"/>
                </a:solidFill>
                <a:latin typeface="Plus Jakarta Sans SemiBold"/>
              </a:rPr>
              <a:t>Attendance Logs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030015" y="5610225"/>
            <a:ext cx="142875" cy="12382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09625" y="3157537"/>
            <a:ext cx="85725" cy="1143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228850" y="3157537"/>
            <a:ext cx="85725" cy="1143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305175" y="3157537"/>
            <a:ext cx="104775" cy="1143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09625" y="3509962"/>
            <a:ext cx="104775" cy="1143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076622" y="6086475"/>
            <a:ext cx="581025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75" b="0" i="0" u="none">
                <a:solidFill>
                  <a:srgbClr val="FFFFFF"/>
                </a:solidFill>
                <a:latin typeface="Plus Jakarta Sans"/>
              </a:rPr>
              <a:t>HTML/CSS/JS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115294" y="6015037"/>
            <a:ext cx="114300" cy="1143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2687091" y="6086475"/>
            <a:ext cx="581025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75" b="0" i="0" u="none">
                <a:solidFill>
                  <a:srgbClr val="FFFFFF"/>
                </a:solidFill>
                <a:latin typeface="Plus Jakarta Sans"/>
              </a:rPr>
              <a:t>Vision Module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725763" y="6015037"/>
            <a:ext cx="114300" cy="1143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4311848" y="6086475"/>
            <a:ext cx="552450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75" b="0" i="0" u="none">
                <a:solidFill>
                  <a:srgbClr val="FFFFFF"/>
                </a:solidFill>
                <a:latin typeface="Plus Jakarta Sans"/>
              </a:rPr>
              <a:t>Record Store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04850" y="4510087"/>
            <a:ext cx="123825" cy="13335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015853" y="4510087"/>
            <a:ext cx="123825" cy="13335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04850" y="4738687"/>
            <a:ext cx="76200" cy="13335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015853" y="4738687"/>
            <a:ext cx="76200" cy="13335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04850" y="4967287"/>
            <a:ext cx="123825" cy="13335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015853" y="4967287"/>
            <a:ext cx="104775" cy="13335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004887" y="1838325"/>
            <a:ext cx="11187112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1E3A8A"/>
                </a:solidFill>
                <a:latin typeface="Space Grotesk"/>
              </a:rPr>
              <a:t>TECHNICAL DETAILS &amp; SYSTEM WORKFLOW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23875" y="2362200"/>
            <a:ext cx="1114425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8675" y="4191000"/>
            <a:ext cx="2914650" cy="4095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4125" y="1762125"/>
            <a:ext cx="7143750" cy="3333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65621" y="2257425"/>
            <a:ext cx="6060757" cy="781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0" i="0" u="none">
                <a:solidFill>
                  <a:srgbClr val="0F172A"/>
                </a:solidFill>
                <a:latin typeface="Space Grotesk ExtraBold"/>
              </a:rPr>
              <a:t>THANK </a:t>
            </a:r>
            <a:r>
              <a:rPr sz="4800" b="0" i="0" u="none">
                <a:solidFill>
                  <a:srgbClr val="2563EB"/>
                </a:solidFill>
                <a:latin typeface="Space Grotesk ExtraBold"/>
              </a:rPr>
              <a:t>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9925" y="3181350"/>
            <a:ext cx="57721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DC2626"/>
                </a:solidFill>
                <a:latin typeface="Plus Jakarta Sans"/>
              </a:rPr>
              <a:t>SMART ATTENDANCE SYSTEM USING FACE RECOGNITION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9925" y="3705225"/>
            <a:ext cx="57721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475569"/>
                </a:solidFill>
                <a:latin typeface="Plus Jakarta Sans"/>
              </a:rPr>
              <a:t>Department of Computer Science &amp; Engineering | DBMS Project Viva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800" y="4319587"/>
            <a:ext cx="19050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964185" y="3409950"/>
            <a:ext cx="4263628" cy="381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415</Words>
  <Application>Microsoft Office PowerPoint</Application>
  <PresentationFormat>Widescreen</PresentationFormat>
  <Paragraphs>60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Calibri</vt:lpstr>
      <vt:lpstr>Plus Jakarta Sans</vt:lpstr>
      <vt:lpstr>Plus Jakarta Sans SemiBold</vt:lpstr>
      <vt:lpstr>Space Grotesk</vt:lpstr>
      <vt:lpstr>Space Grotesk ExtraBold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admin</cp:lastModifiedBy>
  <cp:revision>5</cp:revision>
  <dcterms:created xsi:type="dcterms:W3CDTF">2013-01-27T09:14:16Z</dcterms:created>
  <dcterms:modified xsi:type="dcterms:W3CDTF">2026-08-25T06:55:43Z</dcterms:modified>
  <cp:category/>
</cp:coreProperties>
</file>